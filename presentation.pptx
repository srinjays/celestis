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Ultra-Bold" charset="1" panose="00000900000000000000"/>
      <p:regular r:id="rId19"/>
    </p:embeddedFont>
    <p:embeddedFont>
      <p:font typeface="Poppins Bold" charset="1" panose="00000800000000000000"/>
      <p:regular r:id="rId20"/>
    </p:embeddedFont>
    <p:embeddedFont>
      <p:font typeface="Open Sans Hebrew Bold" charset="1" panose="00000800000000000000"/>
      <p:regular r:id="rId21"/>
    </p:embeddedFont>
    <p:embeddedFont>
      <p:font typeface="Open Sans Hebrew" charset="1" panose="00000500000000000000"/>
      <p:regular r:id="rId22"/>
    </p:embeddedFont>
    <p:embeddedFont>
      <p:font typeface="Poppins" charset="1" panose="00000500000000000000"/>
      <p:regular r:id="rId23"/>
    </p:embeddedFont>
    <p:embeddedFont>
      <p:font typeface="Poppins Semi-Bold" charset="1" panose="000007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pace-track.org" TargetMode="External" Type="http://schemas.openxmlformats.org/officeDocument/2006/relationships/hyperlink"/><Relationship Id="rId4"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12" Target="../media/image22.png" Type="http://schemas.openxmlformats.org/officeDocument/2006/relationships/image"/><Relationship Id="rId13" Target="../media/image23.png" Type="http://schemas.openxmlformats.org/officeDocument/2006/relationships/image"/><Relationship Id="rId14" Target="../media/image24.png" Type="http://schemas.openxmlformats.org/officeDocument/2006/relationships/image"/><Relationship Id="rId15" Target="../media/image25.svg" Type="http://schemas.openxmlformats.org/officeDocument/2006/relationships/image"/><Relationship Id="rId16" Target="../media/image26.png" Type="http://schemas.openxmlformats.org/officeDocument/2006/relationships/image"/><Relationship Id="rId17" Target="../media/image27.png" Type="http://schemas.openxmlformats.org/officeDocument/2006/relationships/image"/><Relationship Id="rId2" Target="../media/image1.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 Id="rId4"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9259" r="0" b="-9259"/>
              </a:stretch>
            </a:blipFill>
          </p:spPr>
        </p:sp>
      </p:grpSp>
      <p:grpSp>
        <p:nvGrpSpPr>
          <p:cNvPr name="Group 4" id="4"/>
          <p:cNvGrpSpPr/>
          <p:nvPr/>
        </p:nvGrpSpPr>
        <p:grpSpPr>
          <a:xfrm rot="0">
            <a:off x="378044" y="72152"/>
            <a:ext cx="2857500" cy="2270141"/>
            <a:chOff x="0" y="0"/>
            <a:chExt cx="3810000" cy="3026854"/>
          </a:xfrm>
        </p:grpSpPr>
        <p:sp>
          <p:nvSpPr>
            <p:cNvPr name="Freeform 5" id="5"/>
            <p:cNvSpPr/>
            <p:nvPr/>
          </p:nvSpPr>
          <p:spPr>
            <a:xfrm flipH="false" flipV="false" rot="0">
              <a:off x="0" y="0"/>
              <a:ext cx="3810000" cy="3026791"/>
            </a:xfrm>
            <a:custGeom>
              <a:avLst/>
              <a:gdLst/>
              <a:ahLst/>
              <a:cxnLst/>
              <a:rect r="r" b="b" t="t" l="l"/>
              <a:pathLst>
                <a:path h="3026791" w="3810000">
                  <a:moveTo>
                    <a:pt x="0" y="0"/>
                  </a:moveTo>
                  <a:lnTo>
                    <a:pt x="3810000" y="0"/>
                  </a:lnTo>
                  <a:lnTo>
                    <a:pt x="3810000" y="3026791"/>
                  </a:lnTo>
                  <a:lnTo>
                    <a:pt x="0" y="3026791"/>
                  </a:lnTo>
                  <a:lnTo>
                    <a:pt x="0" y="0"/>
                  </a:lnTo>
                  <a:close/>
                </a:path>
              </a:pathLst>
            </a:custGeom>
            <a:blipFill>
              <a:blip r:embed="rId3"/>
              <a:stretch>
                <a:fillRect l="0" t="-25873" r="0" b="-2"/>
              </a:stretch>
            </a:blipFill>
          </p:spPr>
        </p:sp>
      </p:grpSp>
      <p:sp>
        <p:nvSpPr>
          <p:cNvPr name="Freeform 6" id="6"/>
          <p:cNvSpPr/>
          <p:nvPr/>
        </p:nvSpPr>
        <p:spPr>
          <a:xfrm flipH="false" flipV="false" rot="501973">
            <a:off x="12537979" y="6070021"/>
            <a:ext cx="4614430" cy="2193790"/>
          </a:xfrm>
          <a:custGeom>
            <a:avLst/>
            <a:gdLst/>
            <a:ahLst/>
            <a:cxnLst/>
            <a:rect r="r" b="b" t="t" l="l"/>
            <a:pathLst>
              <a:path h="2193790" w="4614430">
                <a:moveTo>
                  <a:pt x="0" y="0"/>
                </a:moveTo>
                <a:lnTo>
                  <a:pt x="4614429" y="0"/>
                </a:lnTo>
                <a:lnTo>
                  <a:pt x="4614429" y="2193790"/>
                </a:lnTo>
                <a:lnTo>
                  <a:pt x="0" y="2193790"/>
                </a:lnTo>
                <a:lnTo>
                  <a:pt x="0" y="0"/>
                </a:lnTo>
                <a:close/>
              </a:path>
            </a:pathLst>
          </a:custGeom>
          <a:blipFill>
            <a:blip r:embed="rId4"/>
            <a:stretch>
              <a:fillRect l="-3429" t="-19489" r="0" b="-25456"/>
            </a:stretch>
          </a:blipFill>
        </p:spPr>
      </p:sp>
      <p:sp>
        <p:nvSpPr>
          <p:cNvPr name="TextBox 7" id="7"/>
          <p:cNvSpPr txBox="true"/>
          <p:nvPr/>
        </p:nvSpPr>
        <p:spPr>
          <a:xfrm rot="0">
            <a:off x="7233814" y="4099252"/>
            <a:ext cx="3820372" cy="9017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Poppins Ultra-Bold"/>
                <a:ea typeface="Poppins Ultra-Bold"/>
                <a:cs typeface="Poppins Ultra-Bold"/>
                <a:sym typeface="Poppins Ultra-Bold"/>
              </a:rPr>
              <a:t>TEAM FAHH</a:t>
            </a:r>
          </a:p>
        </p:txBody>
      </p:sp>
      <p:sp>
        <p:nvSpPr>
          <p:cNvPr name="TextBox 8" id="8"/>
          <p:cNvSpPr txBox="true"/>
          <p:nvPr/>
        </p:nvSpPr>
        <p:spPr>
          <a:xfrm rot="0">
            <a:off x="3442807" y="3189370"/>
            <a:ext cx="11402387" cy="901700"/>
          </a:xfrm>
          <a:prstGeom prst="rect">
            <a:avLst/>
          </a:prstGeom>
        </p:spPr>
        <p:txBody>
          <a:bodyPr anchor="t" rtlCol="false" tIns="0" lIns="0" bIns="0" rIns="0">
            <a:spAutoFit/>
          </a:bodyPr>
          <a:lstStyle/>
          <a:p>
            <a:pPr algn="ctr">
              <a:lnSpc>
                <a:spcPts val="7000"/>
              </a:lnSpc>
              <a:spcBef>
                <a:spcPct val="0"/>
              </a:spcBef>
            </a:pPr>
            <a:r>
              <a:rPr lang="en-US" b="true" sz="5000">
                <a:solidFill>
                  <a:srgbClr val="000000"/>
                </a:solidFill>
                <a:latin typeface="Poppins Bold"/>
                <a:ea typeface="Poppins Bold"/>
                <a:cs typeface="Poppins Bold"/>
                <a:sym typeface="Poppins Bold"/>
              </a:rPr>
              <a:t>DOMAIN:  ARTIFICIAL INTELLIGENCE</a:t>
            </a:r>
          </a:p>
        </p:txBody>
      </p:sp>
      <p:grpSp>
        <p:nvGrpSpPr>
          <p:cNvPr name="Group 9" id="9"/>
          <p:cNvGrpSpPr/>
          <p:nvPr/>
        </p:nvGrpSpPr>
        <p:grpSpPr>
          <a:xfrm rot="0">
            <a:off x="3908336" y="5609480"/>
            <a:ext cx="10471328" cy="2631489"/>
            <a:chOff x="0" y="0"/>
            <a:chExt cx="13961770" cy="3508652"/>
          </a:xfrm>
        </p:grpSpPr>
        <p:sp>
          <p:nvSpPr>
            <p:cNvPr name="Freeform 10" id="10"/>
            <p:cNvSpPr/>
            <p:nvPr/>
          </p:nvSpPr>
          <p:spPr>
            <a:xfrm flipH="false" flipV="false" rot="0">
              <a:off x="0" y="0"/>
              <a:ext cx="13961769" cy="3508650"/>
            </a:xfrm>
            <a:custGeom>
              <a:avLst/>
              <a:gdLst/>
              <a:ahLst/>
              <a:cxnLst/>
              <a:rect r="r" b="b" t="t" l="l"/>
              <a:pathLst>
                <a:path h="3508650" w="13961769">
                  <a:moveTo>
                    <a:pt x="0" y="0"/>
                  </a:moveTo>
                  <a:lnTo>
                    <a:pt x="13961769" y="0"/>
                  </a:lnTo>
                  <a:lnTo>
                    <a:pt x="13961769" y="3508650"/>
                  </a:lnTo>
                  <a:lnTo>
                    <a:pt x="0" y="3508650"/>
                  </a:lnTo>
                  <a:close/>
                </a:path>
              </a:pathLst>
            </a:custGeom>
            <a:blipFill>
              <a:blip r:embed="rId5">
                <a:alphaModFix amt="0"/>
              </a:blip>
              <a:stretch>
                <a:fillRect l="0" t="-27535" r="0" b="-27535"/>
              </a:stretch>
            </a:blipFill>
          </p:spPr>
        </p:sp>
        <p:sp>
          <p:nvSpPr>
            <p:cNvPr name="TextBox 11" id="11"/>
            <p:cNvSpPr txBox="true"/>
            <p:nvPr/>
          </p:nvSpPr>
          <p:spPr>
            <a:xfrm>
              <a:off x="0" y="-9525"/>
              <a:ext cx="13961770" cy="3518177"/>
            </a:xfrm>
            <a:prstGeom prst="rect">
              <a:avLst/>
            </a:prstGeom>
          </p:spPr>
          <p:txBody>
            <a:bodyPr anchor="ctr" rtlCol="false" tIns="0" lIns="0" bIns="0" rIns="0"/>
            <a:lstStyle/>
            <a:p>
              <a:pPr algn="l" marL="488632" indent="-244316" lvl="1">
                <a:lnSpc>
                  <a:spcPts val="3240"/>
                </a:lnSpc>
                <a:buFont typeface="Arial"/>
                <a:buChar char="•"/>
              </a:pPr>
              <a:r>
                <a:rPr lang="en-US" b="true" sz="2700">
                  <a:solidFill>
                    <a:srgbClr val="000000"/>
                  </a:solidFill>
                  <a:latin typeface="Open Sans Hebrew Bold"/>
                  <a:ea typeface="Open Sans Hebrew Bold"/>
                  <a:cs typeface="Open Sans Hebrew Bold"/>
                  <a:sym typeface="Open Sans Hebrew Bold"/>
                </a:rPr>
                <a:t>Project Name:</a:t>
              </a:r>
              <a:r>
                <a:rPr lang="en-US" sz="2700">
                  <a:solidFill>
                    <a:srgbClr val="000000"/>
                  </a:solidFill>
                  <a:latin typeface="Open Sans Hebrew"/>
                  <a:ea typeface="Open Sans Hebrew"/>
                  <a:cs typeface="Open Sans Hebrew"/>
                  <a:sym typeface="Open Sans Hebrew"/>
                </a:rPr>
                <a:t> CELESTIS</a:t>
              </a:r>
            </a:p>
            <a:p>
              <a:pPr algn="l" marL="488632" indent="-244316" lvl="1">
                <a:lnSpc>
                  <a:spcPts val="3240"/>
                </a:lnSpc>
                <a:buFont typeface="Arial"/>
                <a:buChar char="•"/>
              </a:pPr>
              <a:r>
                <a:rPr lang="en-US" b="true" sz="2700">
                  <a:solidFill>
                    <a:srgbClr val="000000"/>
                  </a:solidFill>
                  <a:latin typeface="Open Sans Hebrew Bold"/>
                  <a:ea typeface="Open Sans Hebrew Bold"/>
                  <a:cs typeface="Open Sans Hebrew Bold"/>
                  <a:sym typeface="Open Sans Hebrew Bold"/>
                </a:rPr>
                <a:t>Tagline:</a:t>
              </a:r>
              <a:r>
                <a:rPr lang="en-US" sz="2700">
                  <a:solidFill>
                    <a:srgbClr val="000000"/>
                  </a:solidFill>
                  <a:latin typeface="Open Sans Hebrew"/>
                  <a:ea typeface="Open Sans Hebrew"/>
                  <a:cs typeface="Open Sans Hebrew"/>
                  <a:sym typeface="Open Sans Hebrew"/>
                </a:rPr>
                <a:t> Autonomous Satellite Mission Control Platform</a:t>
              </a:r>
            </a:p>
            <a:p>
              <a:pPr algn="l" marL="488632" indent="-244316" lvl="1">
                <a:lnSpc>
                  <a:spcPts val="3240"/>
                </a:lnSpc>
                <a:buFont typeface="Arial"/>
                <a:buChar char="•"/>
              </a:pPr>
              <a:r>
                <a:rPr lang="en-US" b="true" sz="2700">
                  <a:solidFill>
                    <a:srgbClr val="000000"/>
                  </a:solidFill>
                  <a:latin typeface="Open Sans Hebrew Bold"/>
                  <a:ea typeface="Open Sans Hebrew Bold"/>
                  <a:cs typeface="Open Sans Hebrew Bold"/>
                  <a:sym typeface="Open Sans Hebrew Bold"/>
                </a:rPr>
                <a:t>Team Name: </a:t>
              </a:r>
              <a:r>
                <a:rPr lang="en-US" sz="2700">
                  <a:solidFill>
                    <a:srgbClr val="000000"/>
                  </a:solidFill>
                  <a:latin typeface="Open Sans Hebrew"/>
                  <a:ea typeface="Open Sans Hebrew"/>
                  <a:cs typeface="Open Sans Hebrew"/>
                  <a:sym typeface="Open Sans Hebrew"/>
                </a:rPr>
                <a:t>FAHH</a:t>
              </a:r>
            </a:p>
            <a:p>
              <a:pPr algn="l" marL="488632" indent="-244316" lvl="1">
                <a:lnSpc>
                  <a:spcPts val="3240"/>
                </a:lnSpc>
                <a:buFont typeface="Arial"/>
                <a:buChar char="•"/>
              </a:pPr>
              <a:r>
                <a:rPr lang="en-US" b="true" sz="2700">
                  <a:solidFill>
                    <a:srgbClr val="000000"/>
                  </a:solidFill>
                  <a:latin typeface="Open Sans Hebrew Bold"/>
                  <a:ea typeface="Open Sans Hebrew Bold"/>
                  <a:cs typeface="Open Sans Hebrew Bold"/>
                  <a:sym typeface="Open Sans Hebrew Bold"/>
                </a:rPr>
                <a:t>Event:</a:t>
              </a:r>
              <a:r>
                <a:rPr lang="en-US" sz="2700">
                  <a:solidFill>
                    <a:srgbClr val="000000"/>
                  </a:solidFill>
                  <a:latin typeface="Open Sans Hebrew"/>
                  <a:ea typeface="Open Sans Hebrew"/>
                  <a:cs typeface="Open Sans Hebrew"/>
                  <a:sym typeface="Open Sans Hebrew"/>
                </a:rPr>
                <a:t> DevCraft: Simon’s Command Line </a:t>
              </a:r>
            </a:p>
            <a:p>
              <a:pPr algn="l" marL="488632" indent="-244316" lvl="1">
                <a:lnSpc>
                  <a:spcPts val="3240"/>
                </a:lnSpc>
                <a:buFont typeface="Arial"/>
                <a:buChar char="•"/>
              </a:pPr>
              <a:r>
                <a:rPr lang="en-US" b="true" sz="2700">
                  <a:solidFill>
                    <a:srgbClr val="000000"/>
                  </a:solidFill>
                  <a:latin typeface="Open Sans Hebrew Bold"/>
                  <a:ea typeface="Open Sans Hebrew Bold"/>
                  <a:cs typeface="Open Sans Hebrew Bold"/>
                  <a:sym typeface="Open Sans Hebrew Bold"/>
                </a:rPr>
                <a:t>Date</a:t>
              </a:r>
              <a:r>
                <a:rPr lang="en-US" sz="2700">
                  <a:solidFill>
                    <a:srgbClr val="000000"/>
                  </a:solidFill>
                  <a:latin typeface="Open Sans Hebrew"/>
                  <a:ea typeface="Open Sans Hebrew"/>
                  <a:cs typeface="Open Sans Hebrew"/>
                  <a:sym typeface="Open Sans Hebrew"/>
                </a:rPr>
                <a:t>: 06/04/2026</a:t>
              </a:r>
            </a:p>
            <a:p>
              <a:pPr algn="l" marL="488632" indent="-244316" lvl="1">
                <a:lnSpc>
                  <a:spcPts val="3240"/>
                </a:lnSpc>
                <a:buFont typeface="Arial"/>
                <a:buChar char="•"/>
              </a:pPr>
              <a:r>
                <a:rPr lang="en-US" b="true" sz="2700">
                  <a:solidFill>
                    <a:srgbClr val="000000"/>
                  </a:solidFill>
                  <a:latin typeface="Open Sans Hebrew Bold"/>
                  <a:ea typeface="Open Sans Hebrew Bold"/>
                  <a:cs typeface="Open Sans Hebrew Bold"/>
                  <a:sym typeface="Open Sans Hebrew Bold"/>
                </a:rPr>
                <a:t>Domain: </a:t>
              </a:r>
              <a:r>
                <a:rPr lang="en-US" sz="2700">
                  <a:solidFill>
                    <a:srgbClr val="000000"/>
                  </a:solidFill>
                  <a:latin typeface="Open Sans Hebrew"/>
                  <a:ea typeface="Open Sans Hebrew"/>
                  <a:cs typeface="Open Sans Hebrew"/>
                  <a:sym typeface="Open Sans Hebrew"/>
                </a:rPr>
                <a:t>Artificial intelligence</a:t>
              </a:r>
            </a:p>
          </p:txBody>
        </p:sp>
      </p:grpSp>
      <p:sp>
        <p:nvSpPr>
          <p:cNvPr name="TextBox 12" id="12"/>
          <p:cNvSpPr txBox="true"/>
          <p:nvPr/>
        </p:nvSpPr>
        <p:spPr>
          <a:xfrm rot="0">
            <a:off x="2247339" y="1724870"/>
            <a:ext cx="13793321" cy="1063395"/>
          </a:xfrm>
          <a:prstGeom prst="rect">
            <a:avLst/>
          </a:prstGeom>
        </p:spPr>
        <p:txBody>
          <a:bodyPr anchor="t" rtlCol="false" tIns="0" lIns="0" bIns="0" rIns="0">
            <a:spAutoFit/>
          </a:bodyPr>
          <a:lstStyle/>
          <a:p>
            <a:pPr algn="ctr">
              <a:lnSpc>
                <a:spcPts val="8228"/>
              </a:lnSpc>
              <a:spcBef>
                <a:spcPct val="0"/>
              </a:spcBef>
            </a:pPr>
            <a:r>
              <a:rPr lang="en-US" b="true" sz="5877">
                <a:solidFill>
                  <a:srgbClr val="000000"/>
                </a:solidFill>
                <a:latin typeface="Poppins Bold"/>
                <a:ea typeface="Poppins Bold"/>
                <a:cs typeface="Poppins Bold"/>
                <a:sym typeface="Poppins Bold"/>
              </a:rPr>
              <a:t>DEVCRAFT: SIMON’S COMMAND LINE</a:t>
            </a:r>
          </a:p>
        </p:txBody>
      </p:sp>
      <p:sp>
        <p:nvSpPr>
          <p:cNvPr name="Freeform 13" id="13"/>
          <p:cNvSpPr/>
          <p:nvPr/>
        </p:nvSpPr>
        <p:spPr>
          <a:xfrm flipH="false" flipV="false" rot="654455">
            <a:off x="-353048" y="4306100"/>
            <a:ext cx="4319684" cy="2879789"/>
          </a:xfrm>
          <a:custGeom>
            <a:avLst/>
            <a:gdLst/>
            <a:ahLst/>
            <a:cxnLst/>
            <a:rect r="r" b="b" t="t" l="l"/>
            <a:pathLst>
              <a:path h="2879789" w="4319684">
                <a:moveTo>
                  <a:pt x="0" y="0"/>
                </a:moveTo>
                <a:lnTo>
                  <a:pt x="4319684" y="0"/>
                </a:lnTo>
                <a:lnTo>
                  <a:pt x="4319684" y="2879789"/>
                </a:lnTo>
                <a:lnTo>
                  <a:pt x="0" y="2879789"/>
                </a:lnTo>
                <a:lnTo>
                  <a:pt x="0" y="0"/>
                </a:lnTo>
                <a:close/>
              </a:path>
            </a:pathLst>
          </a:custGeom>
          <a:blipFill>
            <a:blip r:embed="rId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TextBox 4" id="4"/>
          <p:cNvSpPr txBox="true"/>
          <p:nvPr/>
        </p:nvSpPr>
        <p:spPr>
          <a:xfrm rot="0">
            <a:off x="5558418" y="259730"/>
            <a:ext cx="7173221"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PROBLEM STATEMENT</a:t>
            </a:r>
          </a:p>
        </p:txBody>
      </p:sp>
      <p:sp>
        <p:nvSpPr>
          <p:cNvPr name="TextBox 5" id="5"/>
          <p:cNvSpPr txBox="true"/>
          <p:nvPr/>
        </p:nvSpPr>
        <p:spPr>
          <a:xfrm rot="0">
            <a:off x="3972474" y="1692596"/>
            <a:ext cx="10343052" cy="562464"/>
          </a:xfrm>
          <a:prstGeom prst="rect">
            <a:avLst/>
          </a:prstGeom>
        </p:spPr>
        <p:txBody>
          <a:bodyPr anchor="t" rtlCol="false" tIns="0" lIns="0" bIns="0" rIns="0">
            <a:spAutoFit/>
          </a:bodyPr>
          <a:lstStyle/>
          <a:p>
            <a:pPr algn="l">
              <a:lnSpc>
                <a:spcPts val="4304"/>
              </a:lnSpc>
              <a:spcBef>
                <a:spcPct val="0"/>
              </a:spcBef>
            </a:pPr>
            <a:r>
              <a:rPr lang="en-US" b="true" sz="3074">
                <a:solidFill>
                  <a:srgbClr val="000000"/>
                </a:solidFill>
                <a:latin typeface="Poppins Bold"/>
                <a:ea typeface="Poppins Bold"/>
                <a:cs typeface="Poppins Bold"/>
                <a:sym typeface="Poppins Bold"/>
              </a:rPr>
              <a:t> "Indian Satellites Are Flying Blind Into Solar Storms"</a:t>
            </a:r>
          </a:p>
        </p:txBody>
      </p:sp>
      <p:sp>
        <p:nvSpPr>
          <p:cNvPr name="TextBox 6" id="6"/>
          <p:cNvSpPr txBox="true"/>
          <p:nvPr/>
        </p:nvSpPr>
        <p:spPr>
          <a:xfrm rot="0">
            <a:off x="816529" y="2465952"/>
            <a:ext cx="16657000" cy="5078095"/>
          </a:xfrm>
          <a:prstGeom prst="rect">
            <a:avLst/>
          </a:prstGeom>
        </p:spPr>
        <p:txBody>
          <a:bodyPr anchor="t" rtlCol="false" tIns="0" lIns="0" bIns="0" rIns="0">
            <a:spAutoFit/>
          </a:bodyPr>
          <a:lstStyle/>
          <a:p>
            <a:pPr algn="l" marL="474976" indent="-237488" lvl="1">
              <a:lnSpc>
                <a:spcPts val="3079"/>
              </a:lnSpc>
              <a:buFont typeface="Arial"/>
              <a:buChar char="•"/>
            </a:pPr>
            <a:r>
              <a:rPr lang="en-US" sz="2199">
                <a:solidFill>
                  <a:srgbClr val="000000"/>
                </a:solidFill>
                <a:latin typeface="Poppins"/>
                <a:ea typeface="Poppins"/>
                <a:cs typeface="Poppins"/>
                <a:sym typeface="Poppins"/>
              </a:rPr>
              <a:t> Geomagnetic storms supercharge Earth's upper atmosphere, increasing drag on LEO satellites by 10x to 50x.</a:t>
            </a:r>
          </a:p>
          <a:p>
            <a:pPr algn="l">
              <a:lnSpc>
                <a:spcPts val="3079"/>
              </a:lnSpc>
            </a:pPr>
          </a:p>
          <a:p>
            <a:pPr algn="l" marL="474976" indent="-237488" lvl="1">
              <a:lnSpc>
                <a:spcPts val="3079"/>
              </a:lnSpc>
              <a:buFont typeface="Arial"/>
              <a:buChar char="•"/>
            </a:pPr>
            <a:r>
              <a:rPr lang="en-US" sz="2199">
                <a:solidFill>
                  <a:srgbClr val="000000"/>
                </a:solidFill>
                <a:latin typeface="Poppins"/>
                <a:ea typeface="Poppins"/>
                <a:cs typeface="Poppins"/>
                <a:sym typeface="Poppins"/>
              </a:rPr>
              <a:t>NRLMSISE-00 is the global standard atmospheric model underestimates storm time density by 30–80%.</a:t>
            </a:r>
          </a:p>
          <a:p>
            <a:pPr algn="l">
              <a:lnSpc>
                <a:spcPts val="3079"/>
              </a:lnSpc>
            </a:pPr>
          </a:p>
          <a:p>
            <a:pPr algn="l" marL="474976" indent="-237488" lvl="1">
              <a:lnSpc>
                <a:spcPts val="3079"/>
              </a:lnSpc>
              <a:buFont typeface="Arial"/>
              <a:buChar char="•"/>
            </a:pPr>
            <a:r>
              <a:rPr lang="en-US" sz="2199">
                <a:solidFill>
                  <a:srgbClr val="000000"/>
                </a:solidFill>
                <a:latin typeface="Poppins"/>
                <a:ea typeface="Poppins"/>
                <a:cs typeface="Poppins"/>
                <a:sym typeface="Poppins"/>
              </a:rPr>
              <a:t>2022 Starlink Disaster: 38 of 49 satellites re-entered atmosphere in 72 hours, accounted for a 50+ Million dollars lost, this was because the drag was under predicted by 45%.</a:t>
            </a:r>
          </a:p>
          <a:p>
            <a:pPr algn="l">
              <a:lnSpc>
                <a:spcPts val="3079"/>
              </a:lnSpc>
            </a:pPr>
          </a:p>
          <a:p>
            <a:pPr algn="l" marL="474976" indent="-237488" lvl="1">
              <a:lnSpc>
                <a:spcPts val="3079"/>
              </a:lnSpc>
              <a:buFont typeface="Arial"/>
              <a:buChar char="•"/>
            </a:pPr>
            <a:r>
              <a:rPr lang="en-US" sz="2199">
                <a:solidFill>
                  <a:srgbClr val="000000"/>
                </a:solidFill>
                <a:latin typeface="Poppins"/>
                <a:ea typeface="Poppins"/>
                <a:cs typeface="Poppins"/>
                <a:sym typeface="Poppins"/>
              </a:rPr>
              <a:t>2024 Gannon Storm (Kp=9): Strongest storm in 21 years, the satellite drag was 2 to 5x higher than models predicted.</a:t>
            </a:r>
          </a:p>
          <a:p>
            <a:pPr algn="l">
              <a:lnSpc>
                <a:spcPts val="3079"/>
              </a:lnSpc>
            </a:pPr>
          </a:p>
          <a:p>
            <a:pPr algn="l" marL="474976" indent="-237488" lvl="1">
              <a:lnSpc>
                <a:spcPts val="3079"/>
              </a:lnSpc>
              <a:buFont typeface="Arial"/>
              <a:buChar char="•"/>
            </a:pPr>
            <a:r>
              <a:rPr lang="en-US" sz="2199">
                <a:solidFill>
                  <a:srgbClr val="000000"/>
                </a:solidFill>
                <a:latin typeface="Poppins"/>
                <a:ea typeface="Poppins"/>
                <a:cs typeface="Poppins"/>
                <a:sym typeface="Poppins"/>
              </a:rPr>
              <a:t>ISRO's I-STAR constellation (ISR satellites at ~500 km LEO) has no real time AI system to predict or respond to storm induced orbital decay.</a:t>
            </a:r>
          </a:p>
          <a:p>
            <a:pPr algn="l">
              <a:lnSpc>
                <a:spcPts val="3079"/>
              </a:lnSpc>
            </a:pPr>
          </a:p>
          <a:p>
            <a:pPr algn="l" marL="474976" indent="-237488" lvl="1">
              <a:lnSpc>
                <a:spcPts val="3079"/>
              </a:lnSpc>
              <a:spcBef>
                <a:spcPct val="0"/>
              </a:spcBef>
              <a:buFont typeface="Arial"/>
              <a:buChar char="•"/>
            </a:pPr>
            <a:r>
              <a:rPr lang="en-US" sz="2199">
                <a:solidFill>
                  <a:srgbClr val="000000"/>
                </a:solidFill>
                <a:latin typeface="Poppins"/>
                <a:ea typeface="Poppins"/>
                <a:cs typeface="Poppins"/>
                <a:sym typeface="Poppins"/>
              </a:rPr>
              <a:t>With Gaganyaan, Indian Space Station, and commercial growth solving this is a national imperative.</a:t>
            </a:r>
          </a:p>
        </p:txBody>
      </p:sp>
      <p:sp>
        <p:nvSpPr>
          <p:cNvPr name="TextBox 7" id="7"/>
          <p:cNvSpPr txBox="true"/>
          <p:nvPr/>
        </p:nvSpPr>
        <p:spPr>
          <a:xfrm rot="0">
            <a:off x="1226070" y="8305698"/>
            <a:ext cx="15835859" cy="1198881"/>
          </a:xfrm>
          <a:prstGeom prst="rect">
            <a:avLst/>
          </a:prstGeom>
        </p:spPr>
        <p:txBody>
          <a:bodyPr anchor="t" rtlCol="false" tIns="0" lIns="0" bIns="0" rIns="0">
            <a:spAutoFit/>
          </a:bodyPr>
          <a:lstStyle/>
          <a:p>
            <a:pPr algn="ctr">
              <a:lnSpc>
                <a:spcPts val="3219"/>
              </a:lnSpc>
              <a:spcBef>
                <a:spcPct val="0"/>
              </a:spcBef>
            </a:pPr>
            <a:r>
              <a:rPr lang="en-US" b="true" sz="2299">
                <a:solidFill>
                  <a:srgbClr val="000000"/>
                </a:solidFill>
                <a:latin typeface="Poppins Bold"/>
                <a:ea typeface="Poppins Bold"/>
                <a:cs typeface="Poppins Bold"/>
                <a:sym typeface="Poppins Bold"/>
              </a:rPr>
              <a:t>The Core Technical Failure: </a:t>
            </a:r>
            <a:r>
              <a:rPr lang="en-US" b="true" sz="2299">
                <a:solidFill>
                  <a:srgbClr val="000000"/>
                </a:solidFill>
                <a:latin typeface="Poppins Bold"/>
                <a:ea typeface="Poppins Bold"/>
                <a:cs typeface="Poppins Bold"/>
                <a:sym typeface="Poppins Bold"/>
              </a:rPr>
              <a:t>Every space agency in the world relies on NRLMSISE-00, which systematically underestimates thermospheric density during geomagnetic storms by 30–80%. This blind spot has already caused $50M+ in losses.</a:t>
            </a:r>
          </a:p>
        </p:txBody>
      </p:sp>
      <p:grpSp>
        <p:nvGrpSpPr>
          <p:cNvPr name="Group 8" id="8"/>
          <p:cNvGrpSpPr/>
          <p:nvPr/>
        </p:nvGrpSpPr>
        <p:grpSpPr>
          <a:xfrm rot="0">
            <a:off x="1028700" y="8064179"/>
            <a:ext cx="16230600" cy="1754813"/>
            <a:chOff x="0" y="0"/>
            <a:chExt cx="4274726" cy="462173"/>
          </a:xfrm>
        </p:grpSpPr>
        <p:sp>
          <p:nvSpPr>
            <p:cNvPr name="Freeform 9" id="9"/>
            <p:cNvSpPr/>
            <p:nvPr/>
          </p:nvSpPr>
          <p:spPr>
            <a:xfrm flipH="false" flipV="false" rot="0">
              <a:off x="0" y="0"/>
              <a:ext cx="4274726" cy="462173"/>
            </a:xfrm>
            <a:custGeom>
              <a:avLst/>
              <a:gdLst/>
              <a:ahLst/>
              <a:cxnLst/>
              <a:rect r="r" b="b" t="t" l="l"/>
              <a:pathLst>
                <a:path h="462173" w="4274726">
                  <a:moveTo>
                    <a:pt x="8109" y="0"/>
                  </a:moveTo>
                  <a:lnTo>
                    <a:pt x="4266617" y="0"/>
                  </a:lnTo>
                  <a:cubicBezTo>
                    <a:pt x="4268768" y="0"/>
                    <a:pt x="4270830" y="854"/>
                    <a:pt x="4272351" y="2375"/>
                  </a:cubicBezTo>
                  <a:cubicBezTo>
                    <a:pt x="4273872" y="3896"/>
                    <a:pt x="4274726" y="5958"/>
                    <a:pt x="4274726" y="8109"/>
                  </a:cubicBezTo>
                  <a:lnTo>
                    <a:pt x="4274726" y="454064"/>
                  </a:lnTo>
                  <a:cubicBezTo>
                    <a:pt x="4274726" y="456215"/>
                    <a:pt x="4273872" y="458277"/>
                    <a:pt x="4272351" y="459798"/>
                  </a:cubicBezTo>
                  <a:cubicBezTo>
                    <a:pt x="4270830" y="461319"/>
                    <a:pt x="4268768" y="462173"/>
                    <a:pt x="4266617" y="462173"/>
                  </a:cubicBezTo>
                  <a:lnTo>
                    <a:pt x="8109" y="462173"/>
                  </a:lnTo>
                  <a:cubicBezTo>
                    <a:pt x="5958" y="462173"/>
                    <a:pt x="3896" y="461319"/>
                    <a:pt x="2375" y="459798"/>
                  </a:cubicBezTo>
                  <a:cubicBezTo>
                    <a:pt x="854" y="458277"/>
                    <a:pt x="0" y="456215"/>
                    <a:pt x="0" y="454064"/>
                  </a:cubicBezTo>
                  <a:lnTo>
                    <a:pt x="0" y="8109"/>
                  </a:lnTo>
                  <a:cubicBezTo>
                    <a:pt x="0" y="5958"/>
                    <a:pt x="854" y="3896"/>
                    <a:pt x="2375" y="2375"/>
                  </a:cubicBezTo>
                  <a:cubicBezTo>
                    <a:pt x="3896" y="854"/>
                    <a:pt x="5958" y="0"/>
                    <a:pt x="8109" y="0"/>
                  </a:cubicBezTo>
                  <a:close/>
                </a:path>
              </a:pathLst>
            </a:custGeom>
            <a:ln w="38100" cap="sq">
              <a:solidFill>
                <a:srgbClr val="000000"/>
              </a:solidFill>
              <a:prstDash val="solid"/>
              <a:miter/>
            </a:ln>
          </p:spPr>
        </p:sp>
        <p:sp>
          <p:nvSpPr>
            <p:cNvPr name="TextBox 10" id="10"/>
            <p:cNvSpPr txBox="true"/>
            <p:nvPr/>
          </p:nvSpPr>
          <p:spPr>
            <a:xfrm>
              <a:off x="0" y="-47625"/>
              <a:ext cx="4274726" cy="509798"/>
            </a:xfrm>
            <a:prstGeom prst="rect">
              <a:avLst/>
            </a:prstGeom>
          </p:spPr>
          <p:txBody>
            <a:bodyPr anchor="ctr" rtlCol="false" tIns="50800" lIns="50800" bIns="50800" rIns="50800"/>
            <a:lstStyle/>
            <a:p>
              <a:pPr algn="ctr">
                <a:lnSpc>
                  <a:spcPts val="2499"/>
                </a:lnSpc>
              </a:pPr>
            </a:p>
          </p:txBody>
        </p:sp>
      </p:grpSp>
      <p:sp>
        <p:nvSpPr>
          <p:cNvPr name="Freeform 11" id="11"/>
          <p:cNvSpPr/>
          <p:nvPr/>
        </p:nvSpPr>
        <p:spPr>
          <a:xfrm flipH="false" flipV="false" rot="-1192583">
            <a:off x="-1487316" y="-103125"/>
            <a:ext cx="5224034" cy="3482690"/>
          </a:xfrm>
          <a:custGeom>
            <a:avLst/>
            <a:gdLst/>
            <a:ahLst/>
            <a:cxnLst/>
            <a:rect r="r" b="b" t="t" l="l"/>
            <a:pathLst>
              <a:path h="3482690" w="5224034">
                <a:moveTo>
                  <a:pt x="0" y="0"/>
                </a:moveTo>
                <a:lnTo>
                  <a:pt x="5224034" y="0"/>
                </a:lnTo>
                <a:lnTo>
                  <a:pt x="5224034" y="3482690"/>
                </a:lnTo>
                <a:lnTo>
                  <a:pt x="0" y="3482690"/>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TextBox 4" id="4"/>
          <p:cNvSpPr txBox="true"/>
          <p:nvPr/>
        </p:nvSpPr>
        <p:spPr>
          <a:xfrm rot="0">
            <a:off x="6094838" y="259730"/>
            <a:ext cx="6098324"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TARGET AUDIENCE</a:t>
            </a:r>
          </a:p>
        </p:txBody>
      </p:sp>
      <p:sp>
        <p:nvSpPr>
          <p:cNvPr name="TextBox 5" id="5"/>
          <p:cNvSpPr txBox="true"/>
          <p:nvPr/>
        </p:nvSpPr>
        <p:spPr>
          <a:xfrm rot="0">
            <a:off x="815500" y="2185352"/>
            <a:ext cx="16657000" cy="5859145"/>
          </a:xfrm>
          <a:prstGeom prst="rect">
            <a:avLst/>
          </a:prstGeom>
        </p:spPr>
        <p:txBody>
          <a:bodyPr anchor="t" rtlCol="false" tIns="0" lIns="0" bIns="0" rIns="0">
            <a:spAutoFit/>
          </a:bodyPr>
          <a:lstStyle/>
          <a:p>
            <a:pPr algn="l" marL="474976" indent="-237488" lvl="1">
              <a:lnSpc>
                <a:spcPts val="3079"/>
              </a:lnSpc>
              <a:buFont typeface="Arial"/>
              <a:buChar char="•"/>
            </a:pPr>
            <a:r>
              <a:rPr lang="en-US" b="true" sz="2199">
                <a:solidFill>
                  <a:srgbClr val="000000"/>
                </a:solidFill>
                <a:latin typeface="Poppins Bold"/>
                <a:ea typeface="Poppins Bold"/>
                <a:cs typeface="Poppins Bold"/>
                <a:sym typeface="Poppins Bold"/>
              </a:rPr>
              <a:t>ISRO &amp; Government Space Agencies:</a:t>
            </a:r>
            <a:r>
              <a:rPr lang="en-US" sz="2199">
                <a:solidFill>
                  <a:srgbClr val="000000"/>
                </a:solidFill>
                <a:latin typeface="Poppins"/>
                <a:ea typeface="Poppins"/>
                <a:cs typeface="Poppins"/>
                <a:sym typeface="Poppins"/>
              </a:rPr>
              <a:t> Primary buyer. ISRO operates the</a:t>
            </a:r>
            <a:r>
              <a:rPr lang="en-US" b="true" sz="2199">
                <a:solidFill>
                  <a:srgbClr val="000000"/>
                </a:solidFill>
                <a:latin typeface="Poppins Bold"/>
                <a:ea typeface="Poppins Bold"/>
                <a:cs typeface="Poppins Bold"/>
                <a:sym typeface="Poppins Bold"/>
              </a:rPr>
              <a:t> I-STAR </a:t>
            </a:r>
            <a:r>
              <a:rPr lang="en-US" sz="2199">
                <a:solidFill>
                  <a:srgbClr val="000000"/>
                </a:solidFill>
                <a:latin typeface="Poppins"/>
                <a:ea typeface="Poppins"/>
                <a:cs typeface="Poppins"/>
                <a:sym typeface="Poppins"/>
              </a:rPr>
              <a:t>constellation and manages India's upcoming </a:t>
            </a:r>
            <a:r>
              <a:rPr lang="en-US" b="true" sz="2199">
                <a:solidFill>
                  <a:srgbClr val="000000"/>
                </a:solidFill>
                <a:latin typeface="Poppins Bold"/>
                <a:ea typeface="Poppins Bold"/>
                <a:cs typeface="Poppins Bold"/>
                <a:sym typeface="Poppins Bold"/>
              </a:rPr>
              <a:t>Gaganyaan</a:t>
            </a:r>
            <a:r>
              <a:rPr lang="en-US" sz="2199">
                <a:solidFill>
                  <a:srgbClr val="000000"/>
                </a:solidFill>
                <a:latin typeface="Poppins"/>
                <a:ea typeface="Poppins"/>
                <a:cs typeface="Poppins"/>
                <a:sym typeface="Poppins"/>
              </a:rPr>
              <a:t> crewed mission and the Indian Space Station. With India targeting a </a:t>
            </a:r>
            <a:r>
              <a:rPr lang="en-US" b="true" sz="2199">
                <a:solidFill>
                  <a:srgbClr val="000000"/>
                </a:solidFill>
                <a:latin typeface="Poppins Bold"/>
                <a:ea typeface="Poppins Bold"/>
                <a:cs typeface="Poppins Bold"/>
                <a:sym typeface="Poppins Bold"/>
              </a:rPr>
              <a:t>$44B space economy</a:t>
            </a:r>
            <a:r>
              <a:rPr lang="en-US" sz="2199">
                <a:solidFill>
                  <a:srgbClr val="000000"/>
                </a:solidFill>
                <a:latin typeface="Poppins"/>
                <a:ea typeface="Poppins"/>
                <a:cs typeface="Poppins"/>
                <a:sym typeface="Poppins"/>
              </a:rPr>
              <a:t> by</a:t>
            </a:r>
            <a:r>
              <a:rPr lang="en-US" b="true" sz="2199">
                <a:solidFill>
                  <a:srgbClr val="000000"/>
                </a:solidFill>
                <a:latin typeface="Poppins Bold"/>
                <a:ea typeface="Poppins Bold"/>
                <a:cs typeface="Poppins Bold"/>
                <a:sym typeface="Poppins Bold"/>
              </a:rPr>
              <a:t> 2033, </a:t>
            </a:r>
            <a:r>
              <a:rPr lang="en-US" sz="2199">
                <a:solidFill>
                  <a:srgbClr val="000000"/>
                </a:solidFill>
                <a:latin typeface="Poppins"/>
                <a:ea typeface="Poppins"/>
                <a:cs typeface="Poppins"/>
                <a:sym typeface="Poppins"/>
              </a:rPr>
              <a:t>protecting satellite infrastructure is a national priority. No Indian built storm response tool exists for their fleet today.</a:t>
            </a:r>
          </a:p>
          <a:p>
            <a:pPr algn="l">
              <a:lnSpc>
                <a:spcPts val="3079"/>
              </a:lnSpc>
            </a:pPr>
          </a:p>
          <a:p>
            <a:pPr algn="l" marL="474976" indent="-237488" lvl="1">
              <a:lnSpc>
                <a:spcPts val="3079"/>
              </a:lnSpc>
              <a:buFont typeface="Arial"/>
              <a:buChar char="•"/>
            </a:pPr>
            <a:r>
              <a:rPr lang="en-US" b="true" sz="2199">
                <a:solidFill>
                  <a:srgbClr val="000000"/>
                </a:solidFill>
                <a:latin typeface="Poppins Bold"/>
                <a:ea typeface="Poppins Bold"/>
                <a:cs typeface="Poppins Bold"/>
                <a:sym typeface="Poppins Bold"/>
              </a:rPr>
              <a:t>Indian NewSpace Startups: </a:t>
            </a:r>
            <a:r>
              <a:rPr lang="en-US" sz="2199">
                <a:solidFill>
                  <a:srgbClr val="000000"/>
                </a:solidFill>
                <a:latin typeface="Poppins"/>
                <a:ea typeface="Poppins"/>
                <a:cs typeface="Poppins"/>
                <a:sym typeface="Poppins"/>
              </a:rPr>
              <a:t>Agnikul Cosmos, Skyroot Aerospace, Pixxel, Dhruva Space, and Bellatrix are all launching LEO satellites. None have dedicated storm resilience software. They cannot afford enterprise tools ($50K+/year) and currently rely on manual monitoring with open source TLE trackers.</a:t>
            </a:r>
          </a:p>
          <a:p>
            <a:pPr algn="l">
              <a:lnSpc>
                <a:spcPts val="3079"/>
              </a:lnSpc>
            </a:pPr>
          </a:p>
          <a:p>
            <a:pPr algn="l" marL="474976" indent="-237488" lvl="1">
              <a:lnSpc>
                <a:spcPts val="3079"/>
              </a:lnSpc>
              <a:buFont typeface="Arial"/>
              <a:buChar char="•"/>
            </a:pPr>
            <a:r>
              <a:rPr lang="en-US" b="true" sz="2199">
                <a:solidFill>
                  <a:srgbClr val="000000"/>
                </a:solidFill>
                <a:latin typeface="Poppins Bold"/>
                <a:ea typeface="Poppins Bold"/>
                <a:cs typeface="Poppins Bold"/>
                <a:sym typeface="Poppins Bold"/>
              </a:rPr>
              <a:t>International Constellation Operators:</a:t>
            </a:r>
            <a:r>
              <a:rPr lang="en-US" sz="2199">
                <a:solidFill>
                  <a:srgbClr val="000000"/>
                </a:solidFill>
                <a:latin typeface="Poppins"/>
                <a:ea typeface="Poppins"/>
                <a:cs typeface="Poppins"/>
                <a:sym typeface="Poppins"/>
              </a:rPr>
              <a:t> Companies like OneWeb (648 sats), Telesat Lightspeed, and Amazon Kuiper are building mega constellations in LEO. The 2022 Starlink storm event proved that even well funded operators misjudge storm time drag. Hence they need AI augmentation for physics models.</a:t>
            </a:r>
          </a:p>
          <a:p>
            <a:pPr algn="l">
              <a:lnSpc>
                <a:spcPts val="3079"/>
              </a:lnSpc>
            </a:pPr>
          </a:p>
          <a:p>
            <a:pPr algn="l" marL="474976" indent="-237488" lvl="1">
              <a:lnSpc>
                <a:spcPts val="3079"/>
              </a:lnSpc>
              <a:spcBef>
                <a:spcPct val="0"/>
              </a:spcBef>
              <a:buFont typeface="Arial"/>
              <a:buChar char="•"/>
            </a:pPr>
            <a:r>
              <a:rPr lang="en-US" b="true" sz="2199">
                <a:solidFill>
                  <a:srgbClr val="000000"/>
                </a:solidFill>
                <a:latin typeface="Poppins Bold"/>
                <a:ea typeface="Poppins Bold"/>
                <a:cs typeface="Poppins Bold"/>
                <a:sym typeface="Poppins Bold"/>
              </a:rPr>
              <a:t>Defence &amp; Strategic Assets: </a:t>
            </a:r>
            <a:r>
              <a:rPr lang="en-US" sz="2199">
                <a:solidFill>
                  <a:srgbClr val="000000"/>
                </a:solidFill>
                <a:latin typeface="Poppins"/>
                <a:ea typeface="Poppins"/>
                <a:cs typeface="Poppins"/>
                <a:sym typeface="Poppins"/>
              </a:rPr>
              <a:t>Military satellites in LEO cannot afford unplanned orbital decay or debris exposure. Storm events increase both risks simultaneously. CELESTIS addresses both in one platform.</a:t>
            </a:r>
          </a:p>
        </p:txBody>
      </p:sp>
      <p:sp>
        <p:nvSpPr>
          <p:cNvPr name="Freeform 6" id="6"/>
          <p:cNvSpPr/>
          <p:nvPr/>
        </p:nvSpPr>
        <p:spPr>
          <a:xfrm flipH="false" flipV="false" rot="0">
            <a:off x="14079526" y="-844840"/>
            <a:ext cx="4768012" cy="3178675"/>
          </a:xfrm>
          <a:custGeom>
            <a:avLst/>
            <a:gdLst/>
            <a:ahLst/>
            <a:cxnLst/>
            <a:rect r="r" b="b" t="t" l="l"/>
            <a:pathLst>
              <a:path h="3178675" w="4768012">
                <a:moveTo>
                  <a:pt x="0" y="0"/>
                </a:moveTo>
                <a:lnTo>
                  <a:pt x="4768012" y="0"/>
                </a:lnTo>
                <a:lnTo>
                  <a:pt x="4768012" y="3178675"/>
                </a:lnTo>
                <a:lnTo>
                  <a:pt x="0" y="3178675"/>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TextBox 4" id="4"/>
          <p:cNvSpPr txBox="true"/>
          <p:nvPr/>
        </p:nvSpPr>
        <p:spPr>
          <a:xfrm rot="0">
            <a:off x="6094838" y="259730"/>
            <a:ext cx="6524405"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EXISTING SOLUTION</a:t>
            </a:r>
          </a:p>
        </p:txBody>
      </p:sp>
      <p:sp>
        <p:nvSpPr>
          <p:cNvPr name="TextBox 5" id="5"/>
          <p:cNvSpPr txBox="true"/>
          <p:nvPr/>
        </p:nvSpPr>
        <p:spPr>
          <a:xfrm rot="0">
            <a:off x="815500" y="2185352"/>
            <a:ext cx="16657000" cy="5859145"/>
          </a:xfrm>
          <a:prstGeom prst="rect">
            <a:avLst/>
          </a:prstGeom>
        </p:spPr>
        <p:txBody>
          <a:bodyPr anchor="t" rtlCol="false" tIns="0" lIns="0" bIns="0" rIns="0">
            <a:spAutoFit/>
          </a:bodyPr>
          <a:lstStyle/>
          <a:p>
            <a:pPr algn="l" marL="474976" indent="-237488" lvl="1">
              <a:lnSpc>
                <a:spcPts val="3079"/>
              </a:lnSpc>
              <a:buFont typeface="Arial"/>
              <a:buChar char="•"/>
            </a:pPr>
            <a:r>
              <a:rPr lang="en-US" b="true" sz="2199">
                <a:solidFill>
                  <a:srgbClr val="000000"/>
                </a:solidFill>
                <a:latin typeface="Poppins Bold"/>
                <a:ea typeface="Poppins Bold"/>
                <a:cs typeface="Poppins Bold"/>
                <a:sym typeface="Poppins Bold"/>
              </a:rPr>
              <a:t>NRLMSISE-00 (Physics Model):</a:t>
            </a:r>
            <a:r>
              <a:rPr lang="en-US" sz="2199">
                <a:solidFill>
                  <a:srgbClr val="000000"/>
                </a:solidFill>
                <a:latin typeface="Poppins"/>
                <a:ea typeface="Poppins"/>
                <a:cs typeface="Poppins"/>
                <a:sym typeface="Poppins"/>
              </a:rPr>
              <a:t> The global standard for atmospheric density. Free and widely used but purely physics based. During geomagnetic storms, it underestimates thermospheric expansion by </a:t>
            </a:r>
            <a:r>
              <a:rPr lang="en-US" b="true" sz="2199">
                <a:solidFill>
                  <a:srgbClr val="000000"/>
                </a:solidFill>
                <a:latin typeface="Poppins Bold"/>
                <a:ea typeface="Poppins Bold"/>
                <a:cs typeface="Poppins Bold"/>
                <a:sym typeface="Poppins Bold"/>
              </a:rPr>
              <a:t>30–80%</a:t>
            </a:r>
            <a:r>
              <a:rPr lang="en-US" sz="2199">
                <a:solidFill>
                  <a:srgbClr val="000000"/>
                </a:solidFill>
                <a:latin typeface="Poppins"/>
                <a:ea typeface="Poppins"/>
                <a:cs typeface="Poppins"/>
                <a:sym typeface="Poppins"/>
              </a:rPr>
              <a:t>,  exactly when accuracy matters most. It has no awareness of real time solar wind or CME data.</a:t>
            </a:r>
          </a:p>
          <a:p>
            <a:pPr algn="l">
              <a:lnSpc>
                <a:spcPts val="3079"/>
              </a:lnSpc>
            </a:pPr>
          </a:p>
          <a:p>
            <a:pPr algn="l" marL="474976" indent="-237488" lvl="1">
              <a:lnSpc>
                <a:spcPts val="3079"/>
              </a:lnSpc>
              <a:buFont typeface="Arial"/>
              <a:buChar char="•"/>
            </a:pPr>
            <a:r>
              <a:rPr lang="en-US" b="true" sz="2199">
                <a:solidFill>
                  <a:srgbClr val="000000"/>
                </a:solidFill>
                <a:latin typeface="Poppins Bold"/>
                <a:ea typeface="Poppins Bold"/>
                <a:cs typeface="Poppins Bold"/>
                <a:sym typeface="Poppins Bold"/>
              </a:rPr>
              <a:t>AGI Systems Tool Kit / STK:</a:t>
            </a:r>
            <a:r>
              <a:rPr lang="en-US" sz="2199">
                <a:solidFill>
                  <a:srgbClr val="000000"/>
                </a:solidFill>
                <a:latin typeface="Poppins"/>
                <a:ea typeface="Poppins"/>
                <a:cs typeface="Poppins"/>
                <a:sym typeface="Poppins"/>
              </a:rPr>
              <a:t> The industry gold standard for satellite mission analysis. Extremely powerful, but costs </a:t>
            </a:r>
            <a:r>
              <a:rPr lang="en-US" b="true" sz="2199">
                <a:solidFill>
                  <a:srgbClr val="000000"/>
                </a:solidFill>
                <a:latin typeface="Poppins Bold"/>
                <a:ea typeface="Poppins Bold"/>
                <a:cs typeface="Poppins Bold"/>
                <a:sym typeface="Poppins Bold"/>
              </a:rPr>
              <a:t>$50,000–$150,000/year per licence</a:t>
            </a:r>
            <a:r>
              <a:rPr lang="en-US" sz="2199">
                <a:solidFill>
                  <a:srgbClr val="000000"/>
                </a:solidFill>
                <a:latin typeface="Poppins"/>
                <a:ea typeface="Poppins"/>
                <a:cs typeface="Poppins"/>
                <a:sym typeface="Poppins"/>
              </a:rPr>
              <a:t>. Requires PhD level operators. No AI based drag correction. No autonomous maneuver execution. Inaccessible to startups and emerging space nations.</a:t>
            </a:r>
          </a:p>
          <a:p>
            <a:pPr algn="l">
              <a:lnSpc>
                <a:spcPts val="3079"/>
              </a:lnSpc>
            </a:pPr>
          </a:p>
          <a:p>
            <a:pPr algn="l" marL="474976" indent="-237488" lvl="1">
              <a:lnSpc>
                <a:spcPts val="3079"/>
              </a:lnSpc>
              <a:buFont typeface="Arial"/>
              <a:buChar char="•"/>
            </a:pPr>
            <a:r>
              <a:rPr lang="en-US" b="true" sz="2199">
                <a:solidFill>
                  <a:srgbClr val="000000"/>
                </a:solidFill>
                <a:latin typeface="Poppins Bold"/>
                <a:ea typeface="Poppins Bold"/>
                <a:cs typeface="Poppins Bold"/>
                <a:sym typeface="Poppins Bold"/>
              </a:rPr>
              <a:t>Manual Ground Teams:</a:t>
            </a:r>
            <a:r>
              <a:rPr lang="en-US" sz="2199">
                <a:solidFill>
                  <a:srgbClr val="000000"/>
                </a:solidFill>
                <a:latin typeface="Poppins"/>
                <a:ea typeface="Poppins"/>
                <a:cs typeface="Poppins"/>
                <a:sym typeface="Poppins"/>
              </a:rPr>
              <a:t> Most operators still rely on human analysts who manually download TLEs, run separate tools, compute maneuvers in spreadsheets, and escalate decisions through a chain of command. During the </a:t>
            </a:r>
            <a:r>
              <a:rPr lang="en-US" b="true" sz="2199">
                <a:solidFill>
                  <a:srgbClr val="000000"/>
                </a:solidFill>
                <a:latin typeface="Poppins Bold"/>
                <a:ea typeface="Poppins Bold"/>
                <a:cs typeface="Poppins Bold"/>
                <a:sym typeface="Poppins Bold"/>
              </a:rPr>
              <a:t>2022</a:t>
            </a:r>
            <a:r>
              <a:rPr lang="en-US" sz="2199">
                <a:solidFill>
                  <a:srgbClr val="000000"/>
                </a:solidFill>
                <a:latin typeface="Poppins"/>
                <a:ea typeface="Poppins"/>
                <a:cs typeface="Poppins"/>
                <a:sym typeface="Poppins"/>
              </a:rPr>
              <a:t> Starlink storm, SpaceX's team had hours to respond but 38 satellites were lost anyway, the storm evolved faster than human reaction time.</a:t>
            </a:r>
          </a:p>
          <a:p>
            <a:pPr algn="l">
              <a:lnSpc>
                <a:spcPts val="3079"/>
              </a:lnSpc>
            </a:pPr>
          </a:p>
          <a:p>
            <a:pPr algn="l" marL="474976" indent="-237488" lvl="1">
              <a:lnSpc>
                <a:spcPts val="3079"/>
              </a:lnSpc>
              <a:spcBef>
                <a:spcPct val="0"/>
              </a:spcBef>
              <a:buFont typeface="Arial"/>
              <a:buChar char="•"/>
            </a:pPr>
            <a:r>
              <a:rPr lang="en-US" b="true" sz="2199">
                <a:solidFill>
                  <a:srgbClr val="000000"/>
                </a:solidFill>
                <a:latin typeface="Poppins Bold"/>
                <a:ea typeface="Poppins Bold"/>
                <a:cs typeface="Poppins Bold"/>
                <a:sym typeface="Poppins Bold"/>
              </a:rPr>
              <a:t>NASA ODAS / ESA DISCOS:</a:t>
            </a:r>
            <a:r>
              <a:rPr lang="en-US" sz="2199">
                <a:solidFill>
                  <a:srgbClr val="000000"/>
                </a:solidFill>
                <a:latin typeface="Poppins"/>
                <a:ea typeface="Poppins"/>
                <a:cs typeface="Poppins"/>
                <a:sym typeface="Poppins"/>
              </a:rPr>
              <a:t> Government internal databases for debris cataloguing and conjunction screening. Not available as real time operational tools for third parties. Focus on cataloguing, not autonomous response.</a:t>
            </a:r>
          </a:p>
        </p:txBody>
      </p:sp>
      <p:sp>
        <p:nvSpPr>
          <p:cNvPr name="Freeform 6" id="6"/>
          <p:cNvSpPr/>
          <p:nvPr/>
        </p:nvSpPr>
        <p:spPr>
          <a:xfrm flipH="false" flipV="false" rot="501973">
            <a:off x="14260031" y="8161405"/>
            <a:ext cx="4614430" cy="2193790"/>
          </a:xfrm>
          <a:custGeom>
            <a:avLst/>
            <a:gdLst/>
            <a:ahLst/>
            <a:cxnLst/>
            <a:rect r="r" b="b" t="t" l="l"/>
            <a:pathLst>
              <a:path h="2193790" w="4614430">
                <a:moveTo>
                  <a:pt x="0" y="0"/>
                </a:moveTo>
                <a:lnTo>
                  <a:pt x="4614430" y="0"/>
                </a:lnTo>
                <a:lnTo>
                  <a:pt x="4614430" y="2193790"/>
                </a:lnTo>
                <a:lnTo>
                  <a:pt x="0" y="2193790"/>
                </a:lnTo>
                <a:lnTo>
                  <a:pt x="0" y="0"/>
                </a:lnTo>
                <a:close/>
              </a:path>
            </a:pathLst>
          </a:custGeom>
          <a:blipFill>
            <a:blip r:embed="rId3"/>
            <a:stretch>
              <a:fillRect l="-3429" t="-19489" r="0" b="-25456"/>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TextBox 4" id="4"/>
          <p:cNvSpPr txBox="true"/>
          <p:nvPr/>
        </p:nvSpPr>
        <p:spPr>
          <a:xfrm rot="0">
            <a:off x="4731632" y="259730"/>
            <a:ext cx="8824737"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GAPS AND OPPORTUNITIES</a:t>
            </a:r>
          </a:p>
        </p:txBody>
      </p:sp>
      <p:sp>
        <p:nvSpPr>
          <p:cNvPr name="TextBox 5" id="5"/>
          <p:cNvSpPr txBox="true"/>
          <p:nvPr/>
        </p:nvSpPr>
        <p:spPr>
          <a:xfrm rot="0">
            <a:off x="815500" y="2185352"/>
            <a:ext cx="16657000" cy="5859145"/>
          </a:xfrm>
          <a:prstGeom prst="rect">
            <a:avLst/>
          </a:prstGeom>
        </p:spPr>
        <p:txBody>
          <a:bodyPr anchor="t" rtlCol="false" tIns="0" lIns="0" bIns="0" rIns="0">
            <a:spAutoFit/>
          </a:bodyPr>
          <a:lstStyle/>
          <a:p>
            <a:pPr algn="l" marL="474976" indent="-237488" lvl="1">
              <a:lnSpc>
                <a:spcPts val="3079"/>
              </a:lnSpc>
              <a:buFont typeface="Arial"/>
              <a:buChar char="•"/>
            </a:pPr>
            <a:r>
              <a:rPr lang="en-US" b="true" sz="2199">
                <a:solidFill>
                  <a:srgbClr val="000000"/>
                </a:solidFill>
                <a:latin typeface="Poppins Bold"/>
                <a:ea typeface="Poppins Bold"/>
                <a:cs typeface="Poppins Bold"/>
                <a:sym typeface="Poppins Bold"/>
              </a:rPr>
              <a:t>No AI+Physics hybrid for storm drag:</a:t>
            </a:r>
            <a:r>
              <a:rPr lang="en-US" sz="2199">
                <a:solidFill>
                  <a:srgbClr val="000000"/>
                </a:solidFill>
                <a:latin typeface="Poppins"/>
                <a:ea typeface="Poppins"/>
                <a:cs typeface="Poppins"/>
                <a:sym typeface="Poppins"/>
              </a:rPr>
              <a:t> Every existing tool is either pure physics</a:t>
            </a:r>
            <a:r>
              <a:rPr lang="en-US" b="true" sz="2199">
                <a:solidFill>
                  <a:srgbClr val="000000"/>
                </a:solidFill>
                <a:latin typeface="Poppins Bold"/>
                <a:ea typeface="Poppins Bold"/>
                <a:cs typeface="Poppins Bold"/>
                <a:sym typeface="Poppins Bold"/>
              </a:rPr>
              <a:t> (NRLMSISE-00, JB2008) </a:t>
            </a:r>
            <a:r>
              <a:rPr lang="en-US" sz="2199">
                <a:solidFill>
                  <a:srgbClr val="000000"/>
                </a:solidFill>
                <a:latin typeface="Poppins"/>
                <a:ea typeface="Poppins"/>
                <a:cs typeface="Poppins"/>
                <a:sym typeface="Poppins"/>
              </a:rPr>
              <a:t>or pure ML </a:t>
            </a:r>
            <a:r>
              <a:rPr lang="en-US" b="true" sz="2199">
                <a:solidFill>
                  <a:srgbClr val="000000"/>
                </a:solidFill>
                <a:latin typeface="Poppins Bold"/>
                <a:ea typeface="Poppins Bold"/>
                <a:cs typeface="Poppins Bold"/>
                <a:sym typeface="Poppins Bold"/>
              </a:rPr>
              <a:t>(single GBM, LSTM)</a:t>
            </a:r>
            <a:r>
              <a:rPr lang="en-US" sz="2199">
                <a:solidFill>
                  <a:srgbClr val="000000"/>
                </a:solidFill>
                <a:latin typeface="Poppins"/>
                <a:ea typeface="Poppins"/>
                <a:cs typeface="Poppins"/>
                <a:sym typeface="Poppins"/>
              </a:rPr>
              <a:t>. No production tool combines both, meaning physics models miss storm anomalies and ML models violate orbital mechanics. This hybrid gap is CELESTIS's core innovation.</a:t>
            </a:r>
          </a:p>
          <a:p>
            <a:pPr algn="l">
              <a:lnSpc>
                <a:spcPts val="3079"/>
              </a:lnSpc>
            </a:pPr>
          </a:p>
          <a:p>
            <a:pPr algn="l" marL="474976" indent="-237488" lvl="1">
              <a:lnSpc>
                <a:spcPts val="3079"/>
              </a:lnSpc>
              <a:buFont typeface="Arial"/>
              <a:buChar char="•"/>
            </a:pPr>
            <a:r>
              <a:rPr lang="en-US" b="true" sz="2199">
                <a:solidFill>
                  <a:srgbClr val="000000"/>
                </a:solidFill>
                <a:latin typeface="Poppins Bold"/>
                <a:ea typeface="Poppins Bold"/>
                <a:cs typeface="Poppins Bold"/>
                <a:sym typeface="Poppins Bold"/>
              </a:rPr>
              <a:t>No storm phase decomposition:</a:t>
            </a:r>
            <a:r>
              <a:rPr lang="en-US" sz="2199">
                <a:solidFill>
                  <a:srgbClr val="000000"/>
                </a:solidFill>
                <a:latin typeface="Poppins"/>
                <a:ea typeface="Poppins"/>
                <a:cs typeface="Poppins"/>
                <a:sym typeface="Poppins"/>
              </a:rPr>
              <a:t> A geomagnetic storm has 3 physically distinct phases, sudden commencement, main phase and recovery. All existing ML models treat the storm as a single event. </a:t>
            </a:r>
          </a:p>
          <a:p>
            <a:pPr algn="l">
              <a:lnSpc>
                <a:spcPts val="3079"/>
              </a:lnSpc>
            </a:pPr>
          </a:p>
          <a:p>
            <a:pPr algn="l" marL="474976" indent="-237488" lvl="1">
              <a:lnSpc>
                <a:spcPts val="3079"/>
              </a:lnSpc>
              <a:buFont typeface="Arial"/>
              <a:buChar char="•"/>
            </a:pPr>
            <a:r>
              <a:rPr lang="en-US" b="true" sz="2199">
                <a:solidFill>
                  <a:srgbClr val="000000"/>
                </a:solidFill>
                <a:latin typeface="Poppins Bold"/>
                <a:ea typeface="Poppins Bold"/>
                <a:cs typeface="Poppins Bold"/>
                <a:sym typeface="Poppins Bold"/>
              </a:rPr>
              <a:t>No affordable autonomous maneuver platform:</a:t>
            </a:r>
            <a:r>
              <a:rPr lang="en-US" sz="2199">
                <a:solidFill>
                  <a:srgbClr val="000000"/>
                </a:solidFill>
                <a:latin typeface="Poppins"/>
                <a:ea typeface="Poppins"/>
                <a:cs typeface="Poppins"/>
                <a:sym typeface="Poppins"/>
              </a:rPr>
              <a:t> </a:t>
            </a:r>
            <a:r>
              <a:rPr lang="en-US" b="true" sz="2199">
                <a:solidFill>
                  <a:srgbClr val="000000"/>
                </a:solidFill>
                <a:latin typeface="Poppins Bold"/>
                <a:ea typeface="Poppins Bold"/>
                <a:cs typeface="Poppins Bold"/>
                <a:sym typeface="Poppins Bold"/>
              </a:rPr>
              <a:t>58,000+ satellites </a:t>
            </a:r>
            <a:r>
              <a:rPr lang="en-US" sz="2199">
                <a:solidFill>
                  <a:srgbClr val="000000"/>
                </a:solidFill>
                <a:latin typeface="Poppins"/>
                <a:ea typeface="Poppins"/>
                <a:cs typeface="Poppins"/>
                <a:sym typeface="Poppins"/>
              </a:rPr>
              <a:t>are projected to be in LEO by </a:t>
            </a:r>
            <a:r>
              <a:rPr lang="en-US" b="true" sz="2199">
                <a:solidFill>
                  <a:srgbClr val="000000"/>
                </a:solidFill>
                <a:latin typeface="Poppins Bold"/>
                <a:ea typeface="Poppins Bold"/>
                <a:cs typeface="Poppins Bold"/>
                <a:sym typeface="Poppins Bold"/>
              </a:rPr>
              <a:t>2030.</a:t>
            </a:r>
            <a:r>
              <a:rPr lang="en-US" sz="2199">
                <a:solidFill>
                  <a:srgbClr val="000000"/>
                </a:solidFill>
                <a:latin typeface="Poppins"/>
                <a:ea typeface="Poppins"/>
                <a:cs typeface="Poppins"/>
                <a:sym typeface="Poppins"/>
              </a:rPr>
              <a:t> Manual monitoring of each is impossible. Yet the only autonomous operations tools today are proprietary, closed source, and cost millions to integrate. The market for affordable autonomous mission control is completely open.</a:t>
            </a:r>
          </a:p>
          <a:p>
            <a:pPr algn="l">
              <a:lnSpc>
                <a:spcPts val="3079"/>
              </a:lnSpc>
            </a:pPr>
          </a:p>
          <a:p>
            <a:pPr algn="l" marL="474976" indent="-237488" lvl="1">
              <a:lnSpc>
                <a:spcPts val="3079"/>
              </a:lnSpc>
              <a:spcBef>
                <a:spcPct val="0"/>
              </a:spcBef>
              <a:buFont typeface="Arial"/>
              <a:buChar char="•"/>
            </a:pPr>
            <a:r>
              <a:rPr lang="en-US" b="true" sz="2199">
                <a:solidFill>
                  <a:srgbClr val="000000"/>
                </a:solidFill>
                <a:latin typeface="Poppins Bold"/>
                <a:ea typeface="Poppins Bold"/>
                <a:cs typeface="Poppins Bold"/>
                <a:sym typeface="Poppins Bold"/>
              </a:rPr>
              <a:t>No Indian built SSA platform:</a:t>
            </a:r>
            <a:r>
              <a:rPr lang="en-US" sz="2199">
                <a:solidFill>
                  <a:srgbClr val="000000"/>
                </a:solidFill>
                <a:latin typeface="Poppins"/>
                <a:ea typeface="Poppins"/>
                <a:cs typeface="Poppins"/>
                <a:sym typeface="Poppins"/>
              </a:rPr>
              <a:t> India is spending </a:t>
            </a:r>
            <a:r>
              <a:rPr lang="en-US" b="true" sz="2199">
                <a:solidFill>
                  <a:srgbClr val="000000"/>
                </a:solidFill>
                <a:latin typeface="Poppins Bold"/>
                <a:ea typeface="Poppins Bold"/>
                <a:cs typeface="Poppins Bold"/>
                <a:sym typeface="Poppins Bold"/>
              </a:rPr>
              <a:t>₹1,000 crore+ </a:t>
            </a:r>
            <a:r>
              <a:rPr lang="en-US" sz="2199">
                <a:solidFill>
                  <a:srgbClr val="000000"/>
                </a:solidFill>
                <a:latin typeface="Poppins"/>
                <a:ea typeface="Poppins"/>
                <a:cs typeface="Poppins"/>
                <a:sym typeface="Poppins"/>
              </a:rPr>
              <a:t>on the</a:t>
            </a:r>
            <a:r>
              <a:rPr lang="en-US" b="true" sz="2199">
                <a:solidFill>
                  <a:srgbClr val="000000"/>
                </a:solidFill>
                <a:latin typeface="Poppins Bold"/>
                <a:ea typeface="Poppins Bold"/>
                <a:cs typeface="Poppins Bold"/>
                <a:sym typeface="Poppins Bold"/>
              </a:rPr>
              <a:t> I-STAR </a:t>
            </a:r>
            <a:r>
              <a:rPr lang="en-US" sz="2199">
                <a:solidFill>
                  <a:srgbClr val="000000"/>
                </a:solidFill>
                <a:latin typeface="Poppins"/>
                <a:ea typeface="Poppins"/>
                <a:cs typeface="Poppins"/>
                <a:sym typeface="Poppins"/>
              </a:rPr>
              <a:t>program and has </a:t>
            </a:r>
            <a:r>
              <a:rPr lang="en-US" b="true" sz="2199">
                <a:solidFill>
                  <a:srgbClr val="000000"/>
                </a:solidFill>
                <a:latin typeface="Poppins Bold"/>
                <a:ea typeface="Poppins Bold"/>
                <a:cs typeface="Poppins Bold"/>
                <a:sym typeface="Poppins Bold"/>
              </a:rPr>
              <a:t>50+ </a:t>
            </a:r>
            <a:r>
              <a:rPr lang="en-US" sz="2199">
                <a:solidFill>
                  <a:srgbClr val="000000"/>
                </a:solidFill>
                <a:latin typeface="Poppins"/>
                <a:ea typeface="Poppins"/>
                <a:cs typeface="Poppins"/>
                <a:sym typeface="Poppins"/>
              </a:rPr>
              <a:t>space startups active as of</a:t>
            </a:r>
            <a:r>
              <a:rPr lang="en-US" b="true" sz="2199">
                <a:solidFill>
                  <a:srgbClr val="000000"/>
                </a:solidFill>
                <a:latin typeface="Poppins Bold"/>
                <a:ea typeface="Poppins Bold"/>
                <a:cs typeface="Poppins Bold"/>
                <a:sym typeface="Poppins Bold"/>
              </a:rPr>
              <a:t> 2024.</a:t>
            </a:r>
            <a:r>
              <a:rPr lang="en-US" sz="2199">
                <a:solidFill>
                  <a:srgbClr val="000000"/>
                </a:solidFill>
                <a:latin typeface="Poppins"/>
                <a:ea typeface="Poppins"/>
                <a:cs typeface="Poppins"/>
                <a:sym typeface="Poppins"/>
              </a:rPr>
              <a:t> Yet every space situational awareness (SSA) and mission control tool in use is American or European. India has zero indigenous autonomous mission control capability, a strategic and commercial gap of enormous scale.</a:t>
            </a:r>
          </a:p>
        </p:txBody>
      </p:sp>
      <p:sp>
        <p:nvSpPr>
          <p:cNvPr name="Freeform 6" id="6"/>
          <p:cNvSpPr/>
          <p:nvPr/>
        </p:nvSpPr>
        <p:spPr>
          <a:xfrm flipH="false" flipV="false" rot="654455">
            <a:off x="-186885" y="-411195"/>
            <a:ext cx="4319684" cy="2879789"/>
          </a:xfrm>
          <a:custGeom>
            <a:avLst/>
            <a:gdLst/>
            <a:ahLst/>
            <a:cxnLst/>
            <a:rect r="r" b="b" t="t" l="l"/>
            <a:pathLst>
              <a:path h="2879789" w="4319684">
                <a:moveTo>
                  <a:pt x="0" y="0"/>
                </a:moveTo>
                <a:lnTo>
                  <a:pt x="4319684" y="0"/>
                </a:lnTo>
                <a:lnTo>
                  <a:pt x="4319684" y="2879790"/>
                </a:lnTo>
                <a:lnTo>
                  <a:pt x="0" y="2879790"/>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TextBox 4" id="4"/>
          <p:cNvSpPr txBox="true"/>
          <p:nvPr/>
        </p:nvSpPr>
        <p:spPr>
          <a:xfrm rot="0">
            <a:off x="6441075" y="259730"/>
            <a:ext cx="5405851"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YOUR </a:t>
            </a:r>
            <a:r>
              <a:rPr lang="en-US" sz="5250" b="true">
                <a:solidFill>
                  <a:srgbClr val="000000"/>
                </a:solidFill>
                <a:latin typeface="Poppins Bold"/>
                <a:ea typeface="Poppins Bold"/>
                <a:cs typeface="Poppins Bold"/>
                <a:sym typeface="Poppins Bold"/>
              </a:rPr>
              <a:t>SOLUTION</a:t>
            </a:r>
          </a:p>
        </p:txBody>
      </p:sp>
      <p:sp>
        <p:nvSpPr>
          <p:cNvPr name="TextBox 5" id="5"/>
          <p:cNvSpPr txBox="true"/>
          <p:nvPr/>
        </p:nvSpPr>
        <p:spPr>
          <a:xfrm rot="0">
            <a:off x="3422144" y="1292597"/>
            <a:ext cx="11445770" cy="560083"/>
          </a:xfrm>
          <a:prstGeom prst="rect">
            <a:avLst/>
          </a:prstGeom>
        </p:spPr>
        <p:txBody>
          <a:bodyPr anchor="t" rtlCol="false" tIns="0" lIns="0" bIns="0" rIns="0">
            <a:spAutoFit/>
          </a:bodyPr>
          <a:lstStyle/>
          <a:p>
            <a:pPr algn="l">
              <a:lnSpc>
                <a:spcPts val="4304"/>
              </a:lnSpc>
              <a:spcBef>
                <a:spcPct val="0"/>
              </a:spcBef>
            </a:pPr>
            <a:r>
              <a:rPr lang="en-US" b="true" sz="3074">
                <a:solidFill>
                  <a:srgbClr val="000000"/>
                </a:solidFill>
                <a:latin typeface="Poppins Semi-Bold"/>
                <a:ea typeface="Poppins Semi-Bold"/>
                <a:cs typeface="Poppins Semi-Bold"/>
                <a:sym typeface="Poppins Semi-Bold"/>
              </a:rPr>
              <a:t>CELESTIS - Autonomous Satellite Mission Control Software</a:t>
            </a:r>
          </a:p>
        </p:txBody>
      </p:sp>
      <p:sp>
        <p:nvSpPr>
          <p:cNvPr name="TextBox 6" id="6"/>
          <p:cNvSpPr txBox="true"/>
          <p:nvPr/>
        </p:nvSpPr>
        <p:spPr>
          <a:xfrm rot="0">
            <a:off x="558703" y="2081279"/>
            <a:ext cx="17170595" cy="5997575"/>
          </a:xfrm>
          <a:prstGeom prst="rect">
            <a:avLst/>
          </a:prstGeom>
        </p:spPr>
        <p:txBody>
          <a:bodyPr anchor="t" rtlCol="false" tIns="0" lIns="0" bIns="0" rIns="0">
            <a:spAutoFit/>
          </a:bodyPr>
          <a:lstStyle/>
          <a:p>
            <a:pPr algn="l">
              <a:lnSpc>
                <a:spcPts val="2799"/>
              </a:lnSpc>
            </a:pPr>
            <a:r>
              <a:rPr lang="en-US" sz="1999" b="true">
                <a:solidFill>
                  <a:srgbClr val="000000"/>
                </a:solidFill>
                <a:latin typeface="Poppins Bold"/>
                <a:ea typeface="Poppins Bold"/>
                <a:cs typeface="Poppins Bold"/>
                <a:sym typeface="Poppins Bold"/>
              </a:rPr>
              <a:t>We built </a:t>
            </a:r>
            <a:r>
              <a:rPr lang="en-US" sz="1999" b="true">
                <a:solidFill>
                  <a:srgbClr val="000000"/>
                </a:solidFill>
                <a:latin typeface="Poppins Bold"/>
                <a:ea typeface="Poppins Bold"/>
                <a:cs typeface="Poppins Bold"/>
                <a:sym typeface="Poppins Bold"/>
              </a:rPr>
              <a:t>CELESTIS a complete software that is an intelligent mission control center for satellite fleets. It monitors the Solar storm indications, predicts danger, automates satellite manuvers and takes action to keep satellites safe all in real time.</a:t>
            </a:r>
          </a:p>
          <a:p>
            <a:pPr algn="l">
              <a:lnSpc>
                <a:spcPts val="2799"/>
              </a:lnSpc>
            </a:pP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Monitoring solar storm predictions:</a:t>
            </a:r>
            <a:r>
              <a:rPr lang="en-US" sz="1999">
                <a:solidFill>
                  <a:srgbClr val="000000"/>
                </a:solidFill>
                <a:latin typeface="Poppins"/>
                <a:ea typeface="Poppins"/>
                <a:cs typeface="Poppins"/>
                <a:sym typeface="Poppins"/>
              </a:rPr>
              <a:t> Pulls live data every</a:t>
            </a:r>
            <a:r>
              <a:rPr lang="en-US" b="true" sz="1999">
                <a:solidFill>
                  <a:srgbClr val="000000"/>
                </a:solidFill>
                <a:latin typeface="Poppins Bold"/>
                <a:ea typeface="Poppins Bold"/>
                <a:cs typeface="Poppins Bold"/>
                <a:sym typeface="Poppins Bold"/>
              </a:rPr>
              <a:t> 55 seconds from 5 government</a:t>
            </a:r>
            <a:r>
              <a:rPr lang="en-US" sz="1999">
                <a:solidFill>
                  <a:srgbClr val="000000"/>
                </a:solidFill>
                <a:latin typeface="Poppins"/>
                <a:ea typeface="Poppins"/>
                <a:cs typeface="Poppins"/>
                <a:sym typeface="Poppins"/>
              </a:rPr>
              <a:t> space weather agencies </a:t>
            </a:r>
            <a:r>
              <a:rPr lang="en-US" b="true" sz="1999">
                <a:solidFill>
                  <a:srgbClr val="000000"/>
                </a:solidFill>
                <a:latin typeface="Poppins Bold"/>
                <a:ea typeface="Poppins Bold"/>
                <a:cs typeface="Poppins Bold"/>
                <a:sym typeface="Poppins Bold"/>
              </a:rPr>
              <a:t>(NOAA, NASA, GOES, DSCOVR, Space-Track) </a:t>
            </a:r>
            <a:r>
              <a:rPr lang="en-US" sz="1999">
                <a:solidFill>
                  <a:srgbClr val="000000"/>
                </a:solidFill>
                <a:latin typeface="Poppins"/>
                <a:ea typeface="Poppins"/>
                <a:cs typeface="Poppins"/>
                <a:sym typeface="Poppins"/>
              </a:rPr>
              <a:t>to know when a solar storm is coming.</a:t>
            </a:r>
          </a:p>
          <a:p>
            <a:pPr algn="l">
              <a:lnSpc>
                <a:spcPts val="2799"/>
              </a:lnSpc>
            </a:pP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Predicts the Damage:</a:t>
            </a:r>
            <a:r>
              <a:rPr lang="en-US" sz="1999">
                <a:solidFill>
                  <a:srgbClr val="000000"/>
                </a:solidFill>
                <a:latin typeface="Poppins"/>
                <a:ea typeface="Poppins"/>
                <a:cs typeface="Poppins"/>
                <a:sym typeface="Poppins"/>
              </a:rPr>
              <a:t> Uses a custom built AI model (Physics Informed Neural Network) that combines physics and machine learning to predict exactly how much a satellite will drop during a storm, something that existing tools get wrong by </a:t>
            </a:r>
            <a:r>
              <a:rPr lang="en-US" b="true" sz="1999">
                <a:solidFill>
                  <a:srgbClr val="000000"/>
                </a:solidFill>
                <a:latin typeface="Poppins Bold"/>
                <a:ea typeface="Poppins Bold"/>
                <a:cs typeface="Poppins Bold"/>
                <a:sym typeface="Poppins Bold"/>
              </a:rPr>
              <a:t>30–80%</a:t>
            </a:r>
            <a:r>
              <a:rPr lang="en-US" sz="1999">
                <a:solidFill>
                  <a:srgbClr val="000000"/>
                </a:solidFill>
                <a:latin typeface="Poppins"/>
                <a:ea typeface="Poppins"/>
                <a:cs typeface="Poppins"/>
                <a:sym typeface="Poppins"/>
              </a:rPr>
              <a:t>.</a:t>
            </a:r>
          </a:p>
          <a:p>
            <a:pPr algn="l">
              <a:lnSpc>
                <a:spcPts val="2799"/>
              </a:lnSpc>
            </a:pP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Detects Debris Collisions: </a:t>
            </a:r>
            <a:r>
              <a:rPr lang="en-US" sz="1999">
                <a:solidFill>
                  <a:srgbClr val="000000"/>
                </a:solidFill>
                <a:latin typeface="Poppins"/>
                <a:ea typeface="Poppins"/>
                <a:cs typeface="Poppins"/>
                <a:sym typeface="Poppins"/>
              </a:rPr>
              <a:t>Scans</a:t>
            </a:r>
            <a:r>
              <a:rPr lang="en-US" b="true" sz="1999">
                <a:solidFill>
                  <a:srgbClr val="000000"/>
                </a:solidFill>
                <a:latin typeface="Poppins Bold"/>
                <a:ea typeface="Poppins Bold"/>
                <a:cs typeface="Poppins Bold"/>
                <a:sym typeface="Poppins Bold"/>
              </a:rPr>
              <a:t> 200+ </a:t>
            </a:r>
            <a:r>
              <a:rPr lang="en-US" sz="1999">
                <a:solidFill>
                  <a:srgbClr val="000000"/>
                </a:solidFill>
                <a:latin typeface="Poppins"/>
                <a:ea typeface="Poppins"/>
                <a:cs typeface="Poppins"/>
                <a:sym typeface="Poppins"/>
              </a:rPr>
              <a:t>pieces of real space debris every </a:t>
            </a:r>
            <a:r>
              <a:rPr lang="en-US" b="true" sz="1999">
                <a:solidFill>
                  <a:srgbClr val="000000"/>
                </a:solidFill>
                <a:latin typeface="Poppins Bold"/>
                <a:ea typeface="Poppins Bold"/>
                <a:cs typeface="Poppins Bold"/>
                <a:sym typeface="Poppins Bold"/>
              </a:rPr>
              <a:t>15 minutes</a:t>
            </a:r>
            <a:r>
              <a:rPr lang="en-US" sz="1999">
                <a:solidFill>
                  <a:srgbClr val="000000"/>
                </a:solidFill>
                <a:latin typeface="Poppins"/>
                <a:ea typeface="Poppins"/>
                <a:cs typeface="Poppins"/>
                <a:sym typeface="Poppins"/>
              </a:rPr>
              <a:t> and alerts if any object is on a collision course with our satellites.</a:t>
            </a:r>
          </a:p>
          <a:p>
            <a:pPr algn="l">
              <a:lnSpc>
                <a:spcPts val="2799"/>
              </a:lnSpc>
            </a:pP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Takes Protective Action: </a:t>
            </a:r>
            <a:r>
              <a:rPr lang="en-US" sz="1999">
                <a:solidFill>
                  <a:srgbClr val="000000"/>
                </a:solidFill>
                <a:latin typeface="Poppins"/>
                <a:ea typeface="Poppins"/>
                <a:cs typeface="Poppins"/>
                <a:sym typeface="Poppins"/>
              </a:rPr>
              <a:t>Automatically calculates the exact engine burn needed to move a satellite out of harm’s way, and can execute it with or without human approval.</a:t>
            </a:r>
          </a:p>
          <a:p>
            <a:pPr algn="l">
              <a:lnSpc>
                <a:spcPts val="2799"/>
              </a:lnSpc>
            </a:pPr>
          </a:p>
          <a:p>
            <a:pPr algn="l" marL="431797" indent="-215899" lvl="1">
              <a:lnSpc>
                <a:spcPts val="2799"/>
              </a:lnSpc>
              <a:spcBef>
                <a:spcPct val="0"/>
              </a:spcBef>
              <a:buFont typeface="Arial"/>
              <a:buChar char="•"/>
            </a:pPr>
            <a:r>
              <a:rPr lang="en-US" b="true" sz="1999">
                <a:solidFill>
                  <a:srgbClr val="000000"/>
                </a:solidFill>
                <a:latin typeface="Poppins Bold"/>
                <a:ea typeface="Poppins Bold"/>
                <a:cs typeface="Poppins Bold"/>
                <a:sym typeface="Poppins Bold"/>
              </a:rPr>
              <a:t>Viewer Dashboard: </a:t>
            </a:r>
            <a:r>
              <a:rPr lang="en-US" sz="1999">
                <a:solidFill>
                  <a:srgbClr val="000000"/>
                </a:solidFill>
                <a:latin typeface="Poppins"/>
                <a:ea typeface="Poppins"/>
                <a:cs typeface="Poppins"/>
                <a:sym typeface="Poppins"/>
              </a:rPr>
              <a:t>A mission control screen with a 3D globe showing all 36 satellites  along with </a:t>
            </a:r>
            <a:r>
              <a:rPr lang="en-US" b="true" sz="1999">
                <a:solidFill>
                  <a:srgbClr val="000000"/>
                </a:solidFill>
                <a:latin typeface="Poppins Bold"/>
                <a:ea typeface="Poppins Bold"/>
                <a:cs typeface="Poppins Bold"/>
                <a:sym typeface="Poppins Bold"/>
              </a:rPr>
              <a:t>34,000 debris objects, fleet health,</a:t>
            </a:r>
            <a:r>
              <a:rPr lang="en-US" sz="1999">
                <a:solidFill>
                  <a:srgbClr val="000000"/>
                </a:solidFill>
                <a:latin typeface="Poppins"/>
                <a:ea typeface="Poppins"/>
                <a:cs typeface="Poppins"/>
                <a:sym typeface="Poppins"/>
              </a:rPr>
              <a:t> and one click maneuver controls.</a:t>
            </a:r>
          </a:p>
        </p:txBody>
      </p:sp>
      <p:grpSp>
        <p:nvGrpSpPr>
          <p:cNvPr name="Group 7" id="7"/>
          <p:cNvGrpSpPr/>
          <p:nvPr/>
        </p:nvGrpSpPr>
        <p:grpSpPr>
          <a:xfrm rot="0">
            <a:off x="1373197" y="8401050"/>
            <a:ext cx="15541605" cy="1287496"/>
            <a:chOff x="0" y="0"/>
            <a:chExt cx="20722140" cy="1716662"/>
          </a:xfrm>
        </p:grpSpPr>
        <p:sp>
          <p:nvSpPr>
            <p:cNvPr name="TextBox 8" id="8"/>
            <p:cNvSpPr txBox="true"/>
            <p:nvPr/>
          </p:nvSpPr>
          <p:spPr>
            <a:xfrm rot="0">
              <a:off x="542639" y="71153"/>
              <a:ext cx="19636863" cy="1517206"/>
            </a:xfrm>
            <a:prstGeom prst="rect">
              <a:avLst/>
            </a:prstGeom>
          </p:spPr>
          <p:txBody>
            <a:bodyPr anchor="t" rtlCol="false" tIns="0" lIns="0" bIns="0" rIns="0">
              <a:spAutoFit/>
            </a:bodyPr>
            <a:lstStyle/>
            <a:p>
              <a:pPr algn="ctr">
                <a:lnSpc>
                  <a:spcPts val="3078"/>
                </a:lnSpc>
                <a:spcBef>
                  <a:spcPct val="0"/>
                </a:spcBef>
              </a:pPr>
              <a:r>
                <a:rPr lang="en-US" b="true" sz="2199">
                  <a:solidFill>
                    <a:srgbClr val="000000"/>
                  </a:solidFill>
                  <a:latin typeface="Poppins Bold"/>
                  <a:ea typeface="Poppins Bold"/>
                  <a:cs typeface="Poppins Bold"/>
                  <a:sym typeface="Poppins Bold"/>
                </a:rPr>
                <a:t>What Makes It Special: Unlike regular AI that can give wrong answers, our AI is built with physics rules baked into it. It is physically incapable of making an impossible prediction. This makes it trustworthy enough for real aerospace use.</a:t>
              </a:r>
            </a:p>
          </p:txBody>
        </p:sp>
        <p:grpSp>
          <p:nvGrpSpPr>
            <p:cNvPr name="Group 9" id="9"/>
            <p:cNvGrpSpPr/>
            <p:nvPr/>
          </p:nvGrpSpPr>
          <p:grpSpPr>
            <a:xfrm rot="0">
              <a:off x="0" y="0"/>
              <a:ext cx="20722140" cy="1716662"/>
              <a:chOff x="0" y="0"/>
              <a:chExt cx="4268431" cy="353605"/>
            </a:xfrm>
          </p:grpSpPr>
          <p:sp>
            <p:nvSpPr>
              <p:cNvPr name="Freeform 10" id="10"/>
              <p:cNvSpPr/>
              <p:nvPr/>
            </p:nvSpPr>
            <p:spPr>
              <a:xfrm flipH="false" flipV="false" rot="0">
                <a:off x="0" y="0"/>
                <a:ext cx="4268431" cy="353605"/>
              </a:xfrm>
              <a:custGeom>
                <a:avLst/>
                <a:gdLst/>
                <a:ahLst/>
                <a:cxnLst/>
                <a:rect r="r" b="b" t="t" l="l"/>
                <a:pathLst>
                  <a:path h="353605" w="4268431">
                    <a:moveTo>
                      <a:pt x="8121" y="0"/>
                    </a:moveTo>
                    <a:lnTo>
                      <a:pt x="4260310" y="0"/>
                    </a:lnTo>
                    <a:cubicBezTo>
                      <a:pt x="4264795" y="0"/>
                      <a:pt x="4268431" y="3636"/>
                      <a:pt x="4268431" y="8121"/>
                    </a:cubicBezTo>
                    <a:lnTo>
                      <a:pt x="4268431" y="345484"/>
                    </a:lnTo>
                    <a:cubicBezTo>
                      <a:pt x="4268431" y="349969"/>
                      <a:pt x="4264795" y="353605"/>
                      <a:pt x="4260310" y="353605"/>
                    </a:cubicBezTo>
                    <a:lnTo>
                      <a:pt x="8121" y="353605"/>
                    </a:lnTo>
                    <a:cubicBezTo>
                      <a:pt x="3636" y="353605"/>
                      <a:pt x="0" y="349969"/>
                      <a:pt x="0" y="345484"/>
                    </a:cubicBezTo>
                    <a:lnTo>
                      <a:pt x="0" y="8121"/>
                    </a:lnTo>
                    <a:cubicBezTo>
                      <a:pt x="0" y="3636"/>
                      <a:pt x="3636" y="0"/>
                      <a:pt x="8121" y="0"/>
                    </a:cubicBezTo>
                    <a:close/>
                  </a:path>
                </a:pathLst>
              </a:custGeom>
              <a:ln w="38100" cap="sq">
                <a:solidFill>
                  <a:srgbClr val="000000"/>
                </a:solidFill>
                <a:prstDash val="solid"/>
                <a:miter/>
              </a:ln>
            </p:spPr>
          </p:sp>
          <p:sp>
            <p:nvSpPr>
              <p:cNvPr name="TextBox 11" id="11"/>
              <p:cNvSpPr txBox="true"/>
              <p:nvPr/>
            </p:nvSpPr>
            <p:spPr>
              <a:xfrm>
                <a:off x="0" y="-47625"/>
                <a:ext cx="4268431" cy="401230"/>
              </a:xfrm>
              <a:prstGeom prst="rect">
                <a:avLst/>
              </a:prstGeom>
            </p:spPr>
            <p:txBody>
              <a:bodyPr anchor="ctr" rtlCol="false" tIns="50800" lIns="50800" bIns="50800" rIns="50800"/>
              <a:lstStyle/>
              <a:p>
                <a:pPr algn="ctr">
                  <a:lnSpc>
                    <a:spcPts val="2499"/>
                  </a:lnSpc>
                </a:pPr>
              </a:p>
            </p:txBody>
          </p:sp>
        </p:gr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TextBox 4" id="4"/>
          <p:cNvSpPr txBox="true"/>
          <p:nvPr/>
        </p:nvSpPr>
        <p:spPr>
          <a:xfrm rot="0">
            <a:off x="777736" y="1214913"/>
            <a:ext cx="16974220" cy="5645150"/>
          </a:xfrm>
          <a:prstGeom prst="rect">
            <a:avLst/>
          </a:prstGeom>
        </p:spPr>
        <p:txBody>
          <a:bodyPr anchor="t" rtlCol="false" tIns="0" lIns="0" bIns="0" rIns="0">
            <a:spAutoFit/>
          </a:bodyPr>
          <a:lstStyle/>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Phase Aware Physics Informed Neural Network (PINN):</a:t>
            </a:r>
            <a:r>
              <a:rPr lang="en-US" sz="1999">
                <a:solidFill>
                  <a:srgbClr val="000000"/>
                </a:solidFill>
                <a:latin typeface="Poppins"/>
                <a:ea typeface="Poppins"/>
                <a:cs typeface="Poppins"/>
                <a:sym typeface="Poppins"/>
              </a:rPr>
              <a:t> A 3 layer neural network that predicts orbital drag residuals on top of </a:t>
            </a:r>
            <a:r>
              <a:rPr lang="en-US" b="true" sz="1999">
                <a:solidFill>
                  <a:srgbClr val="000000"/>
                </a:solidFill>
                <a:latin typeface="Poppins Bold"/>
                <a:ea typeface="Poppins Bold"/>
                <a:cs typeface="Poppins Bold"/>
                <a:sym typeface="Poppins Bold"/>
              </a:rPr>
              <a:t>NRLMSISE-00</a:t>
            </a:r>
            <a:r>
              <a:rPr lang="en-US" sz="1999">
                <a:solidFill>
                  <a:srgbClr val="000000"/>
                </a:solidFill>
                <a:latin typeface="Poppins"/>
                <a:ea typeface="Poppins"/>
                <a:cs typeface="Poppins"/>
                <a:sym typeface="Poppins"/>
              </a:rPr>
              <a:t>. Trained with a custom loss function that penalizes any prediction that violates orbital energy conservation. Making it architecturally impossible to predict an infeasible orbit.</a:t>
            </a:r>
          </a:p>
          <a:p>
            <a:pPr algn="l">
              <a:lnSpc>
                <a:spcPts val="2799"/>
              </a:lnSpc>
            </a:pP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S</a:t>
            </a:r>
            <a:r>
              <a:rPr lang="en-US" b="true" sz="1999">
                <a:solidFill>
                  <a:srgbClr val="000000"/>
                </a:solidFill>
                <a:latin typeface="Poppins Bold"/>
                <a:ea typeface="Poppins Bold"/>
                <a:cs typeface="Poppins Bold"/>
                <a:sym typeface="Poppins Bold"/>
              </a:rPr>
              <a:t>torm Phase Aware GBM: </a:t>
            </a:r>
            <a:r>
              <a:rPr lang="en-US" sz="1999">
                <a:solidFill>
                  <a:srgbClr val="000000"/>
                </a:solidFill>
                <a:latin typeface="Poppins"/>
                <a:ea typeface="Poppins"/>
                <a:cs typeface="Poppins"/>
                <a:sym typeface="Poppins"/>
              </a:rPr>
              <a:t>Instead of one regression model, </a:t>
            </a:r>
            <a:r>
              <a:rPr lang="en-US" b="true" sz="1999">
                <a:solidFill>
                  <a:srgbClr val="000000"/>
                </a:solidFill>
                <a:latin typeface="Poppins Bold"/>
                <a:ea typeface="Poppins Bold"/>
                <a:cs typeface="Poppins Bold"/>
                <a:sym typeface="Poppins Bold"/>
              </a:rPr>
              <a:t>CELESTIS</a:t>
            </a:r>
            <a:r>
              <a:rPr lang="en-US" sz="1999">
                <a:solidFill>
                  <a:srgbClr val="000000"/>
                </a:solidFill>
                <a:latin typeface="Poppins"/>
                <a:ea typeface="Poppins"/>
                <a:cs typeface="Poppins"/>
                <a:sym typeface="Poppins"/>
              </a:rPr>
              <a:t> trains 3 separate Gradient Boosted Models, one for each storm phase. During inference, the system identifies the current phase from the Kp trajectory and routes to the correct model.</a:t>
            </a:r>
          </a:p>
          <a:p>
            <a:pPr algn="l">
              <a:lnSpc>
                <a:spcPts val="2799"/>
              </a:lnSpc>
            </a:pP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Automated COLA Engine:</a:t>
            </a:r>
            <a:r>
              <a:rPr lang="en-US" sz="1999">
                <a:solidFill>
                  <a:srgbClr val="000000"/>
                </a:solidFill>
                <a:latin typeface="Poppins"/>
                <a:ea typeface="Poppins"/>
                <a:cs typeface="Poppins"/>
                <a:sym typeface="Poppins"/>
              </a:rPr>
              <a:t> Runs full </a:t>
            </a:r>
            <a:r>
              <a:rPr lang="en-US" b="true" sz="1999">
                <a:solidFill>
                  <a:srgbClr val="000000"/>
                </a:solidFill>
                <a:latin typeface="Poppins Bold"/>
                <a:ea typeface="Poppins Bold"/>
                <a:cs typeface="Poppins Bold"/>
                <a:sym typeface="Poppins Bold"/>
              </a:rPr>
              <a:t>SGP4 </a:t>
            </a:r>
            <a:r>
              <a:rPr lang="en-US" sz="1999">
                <a:solidFill>
                  <a:srgbClr val="000000"/>
                </a:solidFill>
                <a:latin typeface="Poppins"/>
                <a:ea typeface="Poppins"/>
                <a:cs typeface="Poppins"/>
                <a:sym typeface="Poppins"/>
              </a:rPr>
              <a:t>propagation for every debris object in the monitored band. Computes Chan's analytic collision probability formula for each satellite debris pair. Scans 200+ objects across 36 satellites in under 2 seconds. Triggers alerts with recommended avoidance windows.</a:t>
            </a:r>
          </a:p>
          <a:p>
            <a:pPr algn="l">
              <a:lnSpc>
                <a:spcPts val="2799"/>
              </a:lnSpc>
            </a:pP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Autonomous Maneuver Engine:</a:t>
            </a:r>
            <a:r>
              <a:rPr lang="en-US" sz="1999">
                <a:solidFill>
                  <a:srgbClr val="000000"/>
                </a:solidFill>
                <a:latin typeface="Poppins"/>
                <a:ea typeface="Poppins"/>
                <a:cs typeface="Poppins"/>
                <a:sym typeface="Poppins"/>
              </a:rPr>
              <a:t> Computes the precise</a:t>
            </a:r>
            <a:r>
              <a:rPr lang="en-US" b="true" sz="1999">
                <a:solidFill>
                  <a:srgbClr val="000000"/>
                </a:solidFill>
                <a:latin typeface="Poppins Bold"/>
                <a:ea typeface="Poppins Bold"/>
                <a:cs typeface="Poppins Bold"/>
                <a:sym typeface="Poppins Bold"/>
              </a:rPr>
              <a:t> Delta V</a:t>
            </a:r>
            <a:r>
              <a:rPr lang="en-US" sz="1999">
                <a:solidFill>
                  <a:srgbClr val="000000"/>
                </a:solidFill>
                <a:latin typeface="Poppins"/>
                <a:ea typeface="Poppins"/>
                <a:cs typeface="Poppins"/>
                <a:sym typeface="Poppins"/>
              </a:rPr>
              <a:t> required per satellite using the </a:t>
            </a:r>
            <a:r>
              <a:rPr lang="en-US" b="true" sz="1999">
                <a:solidFill>
                  <a:srgbClr val="000000"/>
                </a:solidFill>
                <a:latin typeface="Poppins Bold"/>
                <a:ea typeface="Poppins Bold"/>
                <a:cs typeface="Poppins Bold"/>
                <a:sym typeface="Poppins Bold"/>
              </a:rPr>
              <a:t>Tsiolkovsky rocket equation</a:t>
            </a:r>
            <a:r>
              <a:rPr lang="en-US" sz="1999">
                <a:solidFill>
                  <a:srgbClr val="000000"/>
                </a:solidFill>
                <a:latin typeface="Poppins"/>
                <a:ea typeface="Poppins"/>
                <a:cs typeface="Poppins"/>
                <a:sym typeface="Poppins"/>
              </a:rPr>
              <a:t> with real spacecraft parameters. Supports two modes: Human on the Loop and Full Autonomy.</a:t>
            </a:r>
          </a:p>
          <a:p>
            <a:pPr algn="l">
              <a:lnSpc>
                <a:spcPts val="2799"/>
              </a:lnSpc>
            </a:pPr>
          </a:p>
          <a:p>
            <a:pPr algn="l" marL="431797" indent="-215899" lvl="1">
              <a:lnSpc>
                <a:spcPts val="2799"/>
              </a:lnSpc>
              <a:spcBef>
                <a:spcPct val="0"/>
              </a:spcBef>
              <a:buFont typeface="Arial"/>
              <a:buChar char="•"/>
            </a:pPr>
            <a:r>
              <a:rPr lang="en-US" b="true" sz="1999">
                <a:solidFill>
                  <a:srgbClr val="000000"/>
                </a:solidFill>
                <a:latin typeface="Poppins Bold"/>
                <a:ea typeface="Poppins Bold"/>
                <a:cs typeface="Poppins Bold"/>
                <a:sym typeface="Poppins Bold"/>
              </a:rPr>
              <a:t>Live 5 Feed Space Weather Pipeline</a:t>
            </a:r>
            <a:r>
              <a:rPr lang="en-US" sz="1999">
                <a:solidFill>
                  <a:srgbClr val="000000"/>
                </a:solidFill>
                <a:latin typeface="Poppins"/>
                <a:ea typeface="Poppins"/>
                <a:cs typeface="Poppins"/>
                <a:sym typeface="Poppins"/>
              </a:rPr>
              <a:t> — Fuses</a:t>
            </a:r>
            <a:r>
              <a:rPr lang="en-US" b="true" sz="1999">
                <a:solidFill>
                  <a:srgbClr val="000000"/>
                </a:solidFill>
                <a:latin typeface="Poppins Bold"/>
                <a:ea typeface="Poppins Bold"/>
                <a:cs typeface="Poppins Bold"/>
                <a:sym typeface="Poppins Bold"/>
              </a:rPr>
              <a:t> NOAA SWPC</a:t>
            </a:r>
            <a:r>
              <a:rPr lang="en-US" sz="1999">
                <a:solidFill>
                  <a:srgbClr val="000000"/>
                </a:solidFill>
                <a:latin typeface="Poppins"/>
                <a:ea typeface="Poppins"/>
                <a:cs typeface="Poppins"/>
                <a:sym typeface="Poppins"/>
              </a:rPr>
              <a:t> (Kp, solar flux),</a:t>
            </a:r>
            <a:r>
              <a:rPr lang="en-US" b="true" sz="1999">
                <a:solidFill>
                  <a:srgbClr val="000000"/>
                </a:solidFill>
                <a:latin typeface="Poppins Bold"/>
                <a:ea typeface="Poppins Bold"/>
                <a:cs typeface="Poppins Bold"/>
                <a:sym typeface="Poppins Bold"/>
              </a:rPr>
              <a:t> NASA DONKI</a:t>
            </a:r>
            <a:r>
              <a:rPr lang="en-US" sz="1999">
                <a:solidFill>
                  <a:srgbClr val="000000"/>
                </a:solidFill>
                <a:latin typeface="Poppins"/>
                <a:ea typeface="Poppins"/>
                <a:cs typeface="Poppins"/>
                <a:sym typeface="Poppins"/>
              </a:rPr>
              <a:t> (CME catalogue),</a:t>
            </a:r>
            <a:r>
              <a:rPr lang="en-US" b="true" sz="1999">
                <a:solidFill>
                  <a:srgbClr val="000000"/>
                </a:solidFill>
                <a:latin typeface="Poppins Bold"/>
                <a:ea typeface="Poppins Bold"/>
                <a:cs typeface="Poppins Bold"/>
                <a:sym typeface="Poppins Bold"/>
              </a:rPr>
              <a:t> GOES-16/18</a:t>
            </a:r>
            <a:r>
              <a:rPr lang="en-US" sz="1999">
                <a:solidFill>
                  <a:srgbClr val="000000"/>
                </a:solidFill>
                <a:latin typeface="Poppins"/>
                <a:ea typeface="Poppins"/>
                <a:cs typeface="Poppins"/>
                <a:sym typeface="Poppins"/>
              </a:rPr>
              <a:t> (X-ray flux), </a:t>
            </a:r>
            <a:r>
              <a:rPr lang="en-US" b="true" sz="1999">
                <a:solidFill>
                  <a:srgbClr val="000000"/>
                </a:solidFill>
                <a:latin typeface="Poppins Bold"/>
                <a:ea typeface="Poppins Bold"/>
                <a:cs typeface="Poppins Bold"/>
                <a:sym typeface="Poppins Bold"/>
              </a:rPr>
              <a:t>DSCOVR</a:t>
            </a:r>
            <a:r>
              <a:rPr lang="en-US" sz="1999">
                <a:solidFill>
                  <a:srgbClr val="000000"/>
                </a:solidFill>
                <a:latin typeface="Poppins"/>
                <a:ea typeface="Poppins"/>
                <a:cs typeface="Poppins"/>
                <a:sym typeface="Poppins"/>
              </a:rPr>
              <a:t> (solar wind speed, proton density, Bz), and</a:t>
            </a:r>
            <a:r>
              <a:rPr lang="en-US" b="true" sz="1999">
                <a:solidFill>
                  <a:srgbClr val="000000"/>
                </a:solidFill>
                <a:latin typeface="Poppins Bold"/>
                <a:ea typeface="Poppins Bold"/>
                <a:cs typeface="Poppins Bold"/>
                <a:sym typeface="Poppins Bold"/>
              </a:rPr>
              <a:t> </a:t>
            </a:r>
            <a:r>
              <a:rPr lang="en-US" b="true" sz="1999">
                <a:solidFill>
                  <a:srgbClr val="000000"/>
                </a:solidFill>
                <a:latin typeface="Poppins Bold"/>
                <a:ea typeface="Poppins Bold"/>
                <a:cs typeface="Poppins Bold"/>
                <a:sym typeface="Poppins Bold"/>
                <a:hlinkClick r:id="rId3" tooltip="http://space-track.org"/>
              </a:rPr>
              <a:t>Space-Track.org</a:t>
            </a:r>
            <a:r>
              <a:rPr lang="en-US" b="true" sz="1999">
                <a:solidFill>
                  <a:srgbClr val="000000"/>
                </a:solidFill>
                <a:latin typeface="Poppins Bold"/>
                <a:ea typeface="Poppins Bold"/>
                <a:cs typeface="Poppins Bold"/>
                <a:sym typeface="Poppins Bold"/>
              </a:rPr>
              <a:t> </a:t>
            </a:r>
            <a:r>
              <a:rPr lang="en-US" sz="1999">
                <a:solidFill>
                  <a:srgbClr val="000000"/>
                </a:solidFill>
                <a:latin typeface="Poppins"/>
                <a:ea typeface="Poppins"/>
                <a:cs typeface="Poppins"/>
                <a:sym typeface="Poppins"/>
              </a:rPr>
              <a:t>(real TLEs for 200+ debris objects).</a:t>
            </a:r>
          </a:p>
        </p:txBody>
      </p:sp>
      <p:sp>
        <p:nvSpPr>
          <p:cNvPr name="Freeform 5" id="5"/>
          <p:cNvSpPr/>
          <p:nvPr/>
        </p:nvSpPr>
        <p:spPr>
          <a:xfrm flipH="false" flipV="false" rot="0">
            <a:off x="6612281" y="7228559"/>
            <a:ext cx="5063438" cy="2765903"/>
          </a:xfrm>
          <a:custGeom>
            <a:avLst/>
            <a:gdLst/>
            <a:ahLst/>
            <a:cxnLst/>
            <a:rect r="r" b="b" t="t" l="l"/>
            <a:pathLst>
              <a:path h="2765903" w="5063438">
                <a:moveTo>
                  <a:pt x="0" y="0"/>
                </a:moveTo>
                <a:lnTo>
                  <a:pt x="5063438" y="0"/>
                </a:lnTo>
                <a:lnTo>
                  <a:pt x="5063438" y="2765903"/>
                </a:lnTo>
                <a:lnTo>
                  <a:pt x="0" y="2765903"/>
                </a:lnTo>
                <a:lnTo>
                  <a:pt x="0" y="0"/>
                </a:lnTo>
                <a:close/>
              </a:path>
            </a:pathLst>
          </a:custGeom>
          <a:blipFill>
            <a:blip r:embed="rId4"/>
            <a:stretch>
              <a:fillRect l="0" t="0" r="0" b="0"/>
            </a:stretch>
          </a:blipFill>
          <a:ln w="38100" cap="sq">
            <a:solidFill>
              <a:srgbClr val="000000"/>
            </a:solidFill>
            <a:prstDash val="solid"/>
            <a:miter/>
          </a:ln>
        </p:spPr>
      </p:sp>
      <p:sp>
        <p:nvSpPr>
          <p:cNvPr name="TextBox 6" id="6"/>
          <p:cNvSpPr txBox="true"/>
          <p:nvPr/>
        </p:nvSpPr>
        <p:spPr>
          <a:xfrm rot="0">
            <a:off x="6780953" y="259730"/>
            <a:ext cx="4726093"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KEY FEATURES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Freeform 4" id="4"/>
          <p:cNvSpPr/>
          <p:nvPr/>
        </p:nvSpPr>
        <p:spPr>
          <a:xfrm flipH="false" flipV="false" rot="0">
            <a:off x="1814198" y="1369695"/>
            <a:ext cx="6903321" cy="4150622"/>
          </a:xfrm>
          <a:custGeom>
            <a:avLst/>
            <a:gdLst/>
            <a:ahLst/>
            <a:cxnLst/>
            <a:rect r="r" b="b" t="t" l="l"/>
            <a:pathLst>
              <a:path h="4150622" w="6903321">
                <a:moveTo>
                  <a:pt x="0" y="0"/>
                </a:moveTo>
                <a:lnTo>
                  <a:pt x="6903321" y="0"/>
                </a:lnTo>
                <a:lnTo>
                  <a:pt x="6903321" y="4150622"/>
                </a:lnTo>
                <a:lnTo>
                  <a:pt x="0" y="4150622"/>
                </a:lnTo>
                <a:lnTo>
                  <a:pt x="0" y="0"/>
                </a:lnTo>
                <a:close/>
              </a:path>
            </a:pathLst>
          </a:custGeom>
          <a:blipFill>
            <a:blip r:embed="rId3"/>
            <a:stretch>
              <a:fillRect l="0" t="0" r="0" b="0"/>
            </a:stretch>
          </a:blipFill>
        </p:spPr>
      </p:sp>
      <p:sp>
        <p:nvSpPr>
          <p:cNvPr name="Freeform 5" id="5"/>
          <p:cNvSpPr/>
          <p:nvPr/>
        </p:nvSpPr>
        <p:spPr>
          <a:xfrm flipH="false" flipV="false" rot="0">
            <a:off x="9255628" y="1369695"/>
            <a:ext cx="6962087" cy="4150622"/>
          </a:xfrm>
          <a:custGeom>
            <a:avLst/>
            <a:gdLst/>
            <a:ahLst/>
            <a:cxnLst/>
            <a:rect r="r" b="b" t="t" l="l"/>
            <a:pathLst>
              <a:path h="4150622" w="6962087">
                <a:moveTo>
                  <a:pt x="0" y="0"/>
                </a:moveTo>
                <a:lnTo>
                  <a:pt x="6962087" y="0"/>
                </a:lnTo>
                <a:lnTo>
                  <a:pt x="6962087" y="4150622"/>
                </a:lnTo>
                <a:lnTo>
                  <a:pt x="0" y="4150622"/>
                </a:lnTo>
                <a:lnTo>
                  <a:pt x="0" y="0"/>
                </a:lnTo>
                <a:close/>
              </a:path>
            </a:pathLst>
          </a:custGeom>
          <a:blipFill>
            <a:blip r:embed="rId4"/>
            <a:stretch>
              <a:fillRect l="0" t="0" r="0" b="-641"/>
            </a:stretch>
          </a:blipFill>
        </p:spPr>
      </p:sp>
      <p:sp>
        <p:nvSpPr>
          <p:cNvPr name="Freeform 6" id="6"/>
          <p:cNvSpPr/>
          <p:nvPr/>
        </p:nvSpPr>
        <p:spPr>
          <a:xfrm flipH="false" flipV="false" rot="0">
            <a:off x="1814198" y="5787017"/>
            <a:ext cx="6903321" cy="4150622"/>
          </a:xfrm>
          <a:custGeom>
            <a:avLst/>
            <a:gdLst/>
            <a:ahLst/>
            <a:cxnLst/>
            <a:rect r="r" b="b" t="t" l="l"/>
            <a:pathLst>
              <a:path h="4150622" w="6903321">
                <a:moveTo>
                  <a:pt x="0" y="0"/>
                </a:moveTo>
                <a:lnTo>
                  <a:pt x="6903321" y="0"/>
                </a:lnTo>
                <a:lnTo>
                  <a:pt x="6903321" y="4150622"/>
                </a:lnTo>
                <a:lnTo>
                  <a:pt x="0" y="4150622"/>
                </a:lnTo>
                <a:lnTo>
                  <a:pt x="0" y="0"/>
                </a:lnTo>
                <a:close/>
              </a:path>
            </a:pathLst>
          </a:custGeom>
          <a:blipFill>
            <a:blip r:embed="rId5"/>
            <a:stretch>
              <a:fillRect l="0" t="0" r="0" b="0"/>
            </a:stretch>
          </a:blipFill>
        </p:spPr>
      </p:sp>
      <p:sp>
        <p:nvSpPr>
          <p:cNvPr name="Freeform 7" id="7"/>
          <p:cNvSpPr/>
          <p:nvPr/>
        </p:nvSpPr>
        <p:spPr>
          <a:xfrm flipH="false" flipV="false" rot="0">
            <a:off x="9255628" y="5787017"/>
            <a:ext cx="6962087" cy="4133364"/>
          </a:xfrm>
          <a:custGeom>
            <a:avLst/>
            <a:gdLst/>
            <a:ahLst/>
            <a:cxnLst/>
            <a:rect r="r" b="b" t="t" l="l"/>
            <a:pathLst>
              <a:path h="4133364" w="6962087">
                <a:moveTo>
                  <a:pt x="0" y="0"/>
                </a:moveTo>
                <a:lnTo>
                  <a:pt x="6962087" y="0"/>
                </a:lnTo>
                <a:lnTo>
                  <a:pt x="6962087" y="4133363"/>
                </a:lnTo>
                <a:lnTo>
                  <a:pt x="0" y="4133363"/>
                </a:lnTo>
                <a:lnTo>
                  <a:pt x="0" y="0"/>
                </a:lnTo>
                <a:close/>
              </a:path>
            </a:pathLst>
          </a:custGeom>
          <a:blipFill>
            <a:blip r:embed="rId6"/>
            <a:stretch>
              <a:fillRect l="-1330" t="-1096" r="0" b="-1096"/>
            </a:stretch>
          </a:blipFill>
        </p:spPr>
      </p:sp>
      <p:sp>
        <p:nvSpPr>
          <p:cNvPr name="TextBox 8" id="8"/>
          <p:cNvSpPr txBox="true"/>
          <p:nvPr/>
        </p:nvSpPr>
        <p:spPr>
          <a:xfrm rot="0">
            <a:off x="4938055" y="337891"/>
            <a:ext cx="8411890"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ARCHITECTURE DIAGRAM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TextBox 4" id="4"/>
          <p:cNvSpPr txBox="true"/>
          <p:nvPr/>
        </p:nvSpPr>
        <p:spPr>
          <a:xfrm rot="0">
            <a:off x="816529" y="1447136"/>
            <a:ext cx="16657000" cy="7804785"/>
          </a:xfrm>
          <a:prstGeom prst="rect">
            <a:avLst/>
          </a:prstGeom>
        </p:spPr>
        <p:txBody>
          <a:bodyPr anchor="t" rtlCol="false" tIns="0" lIns="0" bIns="0" rIns="0">
            <a:spAutoFit/>
          </a:bodyPr>
          <a:lstStyle/>
          <a:p>
            <a:pPr algn="l">
              <a:lnSpc>
                <a:spcPts val="2939"/>
              </a:lnSpc>
            </a:pPr>
            <a:r>
              <a:rPr lang="en-US" sz="2099" b="true">
                <a:solidFill>
                  <a:srgbClr val="000000"/>
                </a:solidFill>
                <a:latin typeface="Poppins Bold"/>
                <a:ea typeface="Poppins Bold"/>
                <a:cs typeface="Poppins Bold"/>
                <a:sym typeface="Poppins Bold"/>
              </a:rPr>
              <a:t>AI/ML:</a:t>
            </a:r>
          </a:p>
          <a:p>
            <a:pPr algn="l">
              <a:lnSpc>
                <a:spcPts val="2939"/>
              </a:lnSpc>
            </a:pPr>
            <a:r>
              <a:rPr lang="en-US" sz="2099" b="true">
                <a:solidFill>
                  <a:srgbClr val="000000"/>
                </a:solidFill>
                <a:latin typeface="Poppins Bold"/>
                <a:ea typeface="Poppins Bold"/>
                <a:cs typeface="Poppins Bold"/>
                <a:sym typeface="Poppins Bold"/>
              </a:rPr>
              <a:t>PyTorch:</a:t>
            </a:r>
            <a:r>
              <a:rPr lang="en-US" sz="2099">
                <a:solidFill>
                  <a:srgbClr val="000000"/>
                </a:solidFill>
                <a:latin typeface="Poppins"/>
                <a:ea typeface="Poppins"/>
                <a:cs typeface="Poppins"/>
                <a:sym typeface="Poppins"/>
              </a:rPr>
              <a:t> For PINN training with custom physics constrained loss function.</a:t>
            </a:r>
          </a:p>
          <a:p>
            <a:pPr algn="l">
              <a:lnSpc>
                <a:spcPts val="2939"/>
              </a:lnSpc>
            </a:pPr>
            <a:r>
              <a:rPr lang="en-US" sz="2099" b="true">
                <a:solidFill>
                  <a:srgbClr val="000000"/>
                </a:solidFill>
                <a:latin typeface="Poppins Bold"/>
                <a:ea typeface="Poppins Bold"/>
                <a:cs typeface="Poppins Bold"/>
                <a:sym typeface="Poppins Bold"/>
              </a:rPr>
              <a:t>Scikit-learn: </a:t>
            </a:r>
            <a:r>
              <a:rPr lang="en-US" sz="2099">
                <a:solidFill>
                  <a:srgbClr val="000000"/>
                </a:solidFill>
                <a:latin typeface="Poppins"/>
                <a:ea typeface="Poppins"/>
                <a:cs typeface="Poppins"/>
                <a:sym typeface="Poppins"/>
              </a:rPr>
              <a:t>For phase Aware GBM benchmark model and StandardScaler.</a:t>
            </a:r>
          </a:p>
          <a:p>
            <a:pPr algn="l">
              <a:lnSpc>
                <a:spcPts val="2939"/>
              </a:lnSpc>
            </a:pPr>
          </a:p>
          <a:p>
            <a:pPr algn="l">
              <a:lnSpc>
                <a:spcPts val="2939"/>
              </a:lnSpc>
            </a:pPr>
            <a:r>
              <a:rPr lang="en-US" sz="2099" b="true">
                <a:solidFill>
                  <a:srgbClr val="000000"/>
                </a:solidFill>
                <a:latin typeface="Poppins Bold"/>
                <a:ea typeface="Poppins Bold"/>
                <a:cs typeface="Poppins Bold"/>
                <a:sym typeface="Poppins Bold"/>
              </a:rPr>
              <a:t>Backend:</a:t>
            </a:r>
          </a:p>
          <a:p>
            <a:pPr algn="l">
              <a:lnSpc>
                <a:spcPts val="2939"/>
              </a:lnSpc>
            </a:pPr>
            <a:r>
              <a:rPr lang="en-US" sz="2099" b="true">
                <a:solidFill>
                  <a:srgbClr val="000000"/>
                </a:solidFill>
                <a:latin typeface="Poppins Bold"/>
                <a:ea typeface="Poppins Bold"/>
                <a:cs typeface="Poppins Bold"/>
                <a:sym typeface="Poppins Bold"/>
              </a:rPr>
              <a:t>FastAPI (Python):</a:t>
            </a:r>
            <a:r>
              <a:rPr lang="en-US" sz="2099">
                <a:solidFill>
                  <a:srgbClr val="000000"/>
                </a:solidFill>
                <a:latin typeface="Poppins"/>
                <a:ea typeface="Poppins"/>
                <a:cs typeface="Poppins"/>
                <a:sym typeface="Poppins"/>
              </a:rPr>
              <a:t> Used for high performance async REST API serving physics and AI predictions</a:t>
            </a:r>
          </a:p>
          <a:p>
            <a:pPr algn="l">
              <a:lnSpc>
                <a:spcPts val="2939"/>
              </a:lnSpc>
            </a:pPr>
            <a:r>
              <a:rPr lang="en-US" sz="2099" b="true">
                <a:solidFill>
                  <a:srgbClr val="000000"/>
                </a:solidFill>
                <a:latin typeface="Poppins Bold"/>
                <a:ea typeface="Poppins Bold"/>
                <a:cs typeface="Poppins Bold"/>
                <a:sym typeface="Poppins Bold"/>
              </a:rPr>
              <a:t>Pymsis:</a:t>
            </a:r>
            <a:r>
              <a:rPr lang="en-US" sz="2099">
                <a:solidFill>
                  <a:srgbClr val="000000"/>
                </a:solidFill>
                <a:latin typeface="Poppins"/>
                <a:ea typeface="Poppins"/>
                <a:cs typeface="Poppins"/>
                <a:sym typeface="Poppins"/>
              </a:rPr>
              <a:t> To model NRLMSISE-00 atmospheric density model</a:t>
            </a:r>
          </a:p>
          <a:p>
            <a:pPr algn="l">
              <a:lnSpc>
                <a:spcPts val="2939"/>
              </a:lnSpc>
            </a:pPr>
            <a:r>
              <a:rPr lang="en-US" sz="2099" b="true">
                <a:solidFill>
                  <a:srgbClr val="000000"/>
                </a:solidFill>
                <a:latin typeface="Poppins Bold"/>
                <a:ea typeface="Poppins Bold"/>
                <a:cs typeface="Poppins Bold"/>
                <a:sym typeface="Poppins Bold"/>
              </a:rPr>
              <a:t>SGP4:</a:t>
            </a:r>
            <a:r>
              <a:rPr lang="en-US" sz="2099">
                <a:solidFill>
                  <a:srgbClr val="000000"/>
                </a:solidFill>
                <a:latin typeface="Poppins"/>
                <a:ea typeface="Poppins"/>
                <a:cs typeface="Poppins"/>
                <a:sym typeface="Poppins"/>
              </a:rPr>
              <a:t> For modeling SGP4 orbital propagation (NORAD gold standard)</a:t>
            </a:r>
          </a:p>
          <a:p>
            <a:pPr algn="l">
              <a:lnSpc>
                <a:spcPts val="2939"/>
              </a:lnSpc>
            </a:pPr>
          </a:p>
          <a:p>
            <a:pPr algn="l">
              <a:lnSpc>
                <a:spcPts val="2939"/>
              </a:lnSpc>
            </a:pPr>
            <a:r>
              <a:rPr lang="en-US" sz="2099" b="true">
                <a:solidFill>
                  <a:srgbClr val="000000"/>
                </a:solidFill>
                <a:latin typeface="Poppins Bold"/>
                <a:ea typeface="Poppins Bold"/>
                <a:cs typeface="Poppins Bold"/>
                <a:sym typeface="Poppins Bold"/>
              </a:rPr>
              <a:t>Frontend:</a:t>
            </a:r>
          </a:p>
          <a:p>
            <a:pPr algn="l">
              <a:lnSpc>
                <a:spcPts val="2939"/>
              </a:lnSpc>
            </a:pPr>
            <a:r>
              <a:rPr lang="en-US" sz="2099" b="true">
                <a:solidFill>
                  <a:srgbClr val="000000"/>
                </a:solidFill>
                <a:latin typeface="Poppins Bold"/>
                <a:ea typeface="Poppins Bold"/>
                <a:cs typeface="Poppins Bold"/>
                <a:sym typeface="Poppins Bold"/>
              </a:rPr>
              <a:t>Electron:</a:t>
            </a:r>
            <a:r>
              <a:rPr lang="en-US" sz="2099">
                <a:solidFill>
                  <a:srgbClr val="000000"/>
                </a:solidFill>
                <a:latin typeface="Poppins"/>
                <a:ea typeface="Poppins"/>
                <a:cs typeface="Poppins"/>
                <a:sym typeface="Poppins"/>
              </a:rPr>
              <a:t> For Native desktop application (frameless, dark theme).</a:t>
            </a:r>
          </a:p>
          <a:p>
            <a:pPr algn="l">
              <a:lnSpc>
                <a:spcPts val="2939"/>
              </a:lnSpc>
            </a:pPr>
            <a:r>
              <a:rPr lang="en-US" sz="2099" b="true">
                <a:solidFill>
                  <a:srgbClr val="000000"/>
                </a:solidFill>
                <a:latin typeface="Poppins Bold"/>
                <a:ea typeface="Poppins Bold"/>
                <a:cs typeface="Poppins Bold"/>
                <a:sym typeface="Poppins Bold"/>
              </a:rPr>
              <a:t>Chart.js:</a:t>
            </a:r>
            <a:r>
              <a:rPr lang="en-US" sz="2099">
                <a:solidFill>
                  <a:srgbClr val="000000"/>
                </a:solidFill>
                <a:latin typeface="Poppins"/>
                <a:ea typeface="Poppins"/>
                <a:cs typeface="Poppins"/>
                <a:sym typeface="Poppins"/>
              </a:rPr>
              <a:t> Used to integrate real time altitude decay charts</a:t>
            </a:r>
          </a:p>
          <a:p>
            <a:pPr algn="l">
              <a:lnSpc>
                <a:spcPts val="2939"/>
              </a:lnSpc>
            </a:pPr>
            <a:r>
              <a:rPr lang="en-US" sz="2099" b="true">
                <a:solidFill>
                  <a:srgbClr val="000000"/>
                </a:solidFill>
                <a:latin typeface="Poppins Bold"/>
                <a:ea typeface="Poppins Bold"/>
                <a:cs typeface="Poppins Bold"/>
                <a:sym typeface="Poppins Bold"/>
              </a:rPr>
              <a:t>Three.js and satellite.js:</a:t>
            </a:r>
            <a:r>
              <a:rPr lang="en-US" sz="2099">
                <a:solidFill>
                  <a:srgbClr val="000000"/>
                </a:solidFill>
                <a:latin typeface="Poppins"/>
                <a:ea typeface="Poppins"/>
                <a:cs typeface="Poppins"/>
                <a:sym typeface="Poppins"/>
              </a:rPr>
              <a:t> Modelled 3D orbital globe with 34,000 debris particles</a:t>
            </a:r>
          </a:p>
          <a:p>
            <a:pPr algn="l">
              <a:lnSpc>
                <a:spcPts val="2939"/>
              </a:lnSpc>
            </a:pPr>
          </a:p>
          <a:p>
            <a:pPr algn="l">
              <a:lnSpc>
                <a:spcPts val="2939"/>
              </a:lnSpc>
            </a:pPr>
            <a:r>
              <a:rPr lang="en-US" sz="2099" b="true">
                <a:solidFill>
                  <a:srgbClr val="000000"/>
                </a:solidFill>
                <a:latin typeface="Poppins Bold"/>
                <a:ea typeface="Poppins Bold"/>
                <a:cs typeface="Poppins Bold"/>
                <a:sym typeface="Poppins Bold"/>
              </a:rPr>
              <a:t>Data:</a:t>
            </a:r>
          </a:p>
          <a:p>
            <a:pPr algn="l">
              <a:lnSpc>
                <a:spcPts val="2939"/>
              </a:lnSpc>
            </a:pPr>
            <a:r>
              <a:rPr lang="en-US" sz="2099" b="true">
                <a:solidFill>
                  <a:srgbClr val="000000"/>
                </a:solidFill>
                <a:latin typeface="Poppins Bold"/>
                <a:ea typeface="Poppins Bold"/>
                <a:cs typeface="Poppins Bold"/>
                <a:sym typeface="Poppins Bold"/>
              </a:rPr>
              <a:t>NOAA SWPC and NASA DONKI:</a:t>
            </a:r>
            <a:r>
              <a:rPr lang="en-US" sz="2099">
                <a:solidFill>
                  <a:srgbClr val="000000"/>
                </a:solidFill>
                <a:latin typeface="Poppins"/>
                <a:ea typeface="Poppins"/>
                <a:cs typeface="Poppins"/>
                <a:sym typeface="Poppins"/>
              </a:rPr>
              <a:t> For fetching live data such as Live Kp, solar wind, X-ray, CME data</a:t>
            </a:r>
          </a:p>
          <a:p>
            <a:pPr algn="l">
              <a:lnSpc>
                <a:spcPts val="2939"/>
              </a:lnSpc>
            </a:pPr>
            <a:r>
              <a:rPr lang="en-US" sz="2099" b="true">
                <a:solidFill>
                  <a:srgbClr val="000000"/>
                </a:solidFill>
                <a:latin typeface="Poppins Bold"/>
                <a:ea typeface="Poppins Bold"/>
                <a:cs typeface="Poppins Bold"/>
                <a:sym typeface="Poppins Bold"/>
              </a:rPr>
              <a:t>Space-Track.org:</a:t>
            </a:r>
            <a:r>
              <a:rPr lang="en-US" sz="2099">
                <a:solidFill>
                  <a:srgbClr val="000000"/>
                </a:solidFill>
                <a:latin typeface="Poppins"/>
                <a:ea typeface="Poppins"/>
                <a:cs typeface="Poppins"/>
                <a:sym typeface="Poppins"/>
              </a:rPr>
              <a:t> Fetching real debris TLEs (200 objects per altitude band).</a:t>
            </a:r>
          </a:p>
          <a:p>
            <a:pPr algn="l">
              <a:lnSpc>
                <a:spcPts val="2939"/>
              </a:lnSpc>
            </a:pPr>
          </a:p>
          <a:p>
            <a:pPr algn="l">
              <a:lnSpc>
                <a:spcPts val="2939"/>
              </a:lnSpc>
            </a:pPr>
            <a:r>
              <a:rPr lang="en-US" sz="2099" b="true">
                <a:solidFill>
                  <a:srgbClr val="000000"/>
                </a:solidFill>
                <a:latin typeface="Poppins Bold"/>
                <a:ea typeface="Poppins Bold"/>
                <a:cs typeface="Poppins Bold"/>
                <a:sym typeface="Poppins Bold"/>
              </a:rPr>
              <a:t>Pipeline:</a:t>
            </a:r>
          </a:p>
          <a:p>
            <a:pPr algn="l">
              <a:lnSpc>
                <a:spcPts val="2939"/>
              </a:lnSpc>
            </a:pPr>
            <a:r>
              <a:rPr lang="en-US" sz="2099" b="true">
                <a:solidFill>
                  <a:srgbClr val="000000"/>
                </a:solidFill>
                <a:latin typeface="Poppins Bold"/>
                <a:ea typeface="Poppins Bold"/>
                <a:cs typeface="Poppins Bold"/>
                <a:sym typeface="Poppins Bold"/>
              </a:rPr>
              <a:t>NumPy and Pandas: </a:t>
            </a:r>
            <a:r>
              <a:rPr lang="en-US" sz="2099">
                <a:solidFill>
                  <a:srgbClr val="000000"/>
                </a:solidFill>
                <a:latin typeface="Poppins"/>
                <a:ea typeface="Poppins"/>
                <a:cs typeface="Poppins"/>
                <a:sym typeface="Poppins"/>
              </a:rPr>
              <a:t>For ground truth dataset from real Space-Track TLEs</a:t>
            </a:r>
          </a:p>
          <a:p>
            <a:pPr algn="l">
              <a:lnSpc>
                <a:spcPts val="2939"/>
              </a:lnSpc>
              <a:spcBef>
                <a:spcPct val="0"/>
              </a:spcBef>
            </a:pPr>
          </a:p>
        </p:txBody>
      </p:sp>
      <p:sp>
        <p:nvSpPr>
          <p:cNvPr name="Freeform 5" id="5"/>
          <p:cNvSpPr/>
          <p:nvPr/>
        </p:nvSpPr>
        <p:spPr>
          <a:xfrm flipH="false" flipV="false" rot="0">
            <a:off x="16133905" y="2131924"/>
            <a:ext cx="1652487" cy="891819"/>
          </a:xfrm>
          <a:custGeom>
            <a:avLst/>
            <a:gdLst/>
            <a:ahLst/>
            <a:cxnLst/>
            <a:rect r="r" b="b" t="t" l="l"/>
            <a:pathLst>
              <a:path h="891819" w="1652487">
                <a:moveTo>
                  <a:pt x="0" y="0"/>
                </a:moveTo>
                <a:lnTo>
                  <a:pt x="1652487" y="0"/>
                </a:lnTo>
                <a:lnTo>
                  <a:pt x="1652487" y="891818"/>
                </a:lnTo>
                <a:lnTo>
                  <a:pt x="0" y="891818"/>
                </a:lnTo>
                <a:lnTo>
                  <a:pt x="0" y="0"/>
                </a:lnTo>
                <a:close/>
              </a:path>
            </a:pathLst>
          </a:custGeom>
          <a:blipFill>
            <a:blip r:embed="rId3"/>
            <a:stretch>
              <a:fillRect l="0" t="0" r="0" b="0"/>
            </a:stretch>
          </a:blipFill>
        </p:spPr>
      </p:sp>
      <p:sp>
        <p:nvSpPr>
          <p:cNvPr name="Freeform 6" id="6"/>
          <p:cNvSpPr/>
          <p:nvPr/>
        </p:nvSpPr>
        <p:spPr>
          <a:xfrm flipH="false" flipV="false" rot="0">
            <a:off x="15772958" y="3168549"/>
            <a:ext cx="2374381" cy="1068471"/>
          </a:xfrm>
          <a:custGeom>
            <a:avLst/>
            <a:gdLst/>
            <a:ahLst/>
            <a:cxnLst/>
            <a:rect r="r" b="b" t="t" l="l"/>
            <a:pathLst>
              <a:path h="1068471" w="2374381">
                <a:moveTo>
                  <a:pt x="0" y="0"/>
                </a:moveTo>
                <a:lnTo>
                  <a:pt x="2374381" y="0"/>
                </a:lnTo>
                <a:lnTo>
                  <a:pt x="2374381" y="1068471"/>
                </a:lnTo>
                <a:lnTo>
                  <a:pt x="0" y="1068471"/>
                </a:lnTo>
                <a:lnTo>
                  <a:pt x="0" y="0"/>
                </a:lnTo>
                <a:close/>
              </a:path>
            </a:pathLst>
          </a:custGeom>
          <a:blipFill>
            <a:blip r:embed="rId4"/>
            <a:stretch>
              <a:fillRect l="0" t="0" r="0" b="0"/>
            </a:stretch>
          </a:blipFill>
        </p:spPr>
      </p:sp>
      <p:sp>
        <p:nvSpPr>
          <p:cNvPr name="Freeform 7" id="7"/>
          <p:cNvSpPr/>
          <p:nvPr/>
        </p:nvSpPr>
        <p:spPr>
          <a:xfrm flipH="false" flipV="false" rot="0">
            <a:off x="13636414" y="2088529"/>
            <a:ext cx="2345593" cy="845238"/>
          </a:xfrm>
          <a:custGeom>
            <a:avLst/>
            <a:gdLst/>
            <a:ahLst/>
            <a:cxnLst/>
            <a:rect r="r" b="b" t="t" l="l"/>
            <a:pathLst>
              <a:path h="845238" w="2345593">
                <a:moveTo>
                  <a:pt x="0" y="0"/>
                </a:moveTo>
                <a:lnTo>
                  <a:pt x="2345593" y="0"/>
                </a:lnTo>
                <a:lnTo>
                  <a:pt x="2345593" y="845238"/>
                </a:lnTo>
                <a:lnTo>
                  <a:pt x="0" y="845238"/>
                </a:lnTo>
                <a:lnTo>
                  <a:pt x="0" y="0"/>
                </a:lnTo>
                <a:close/>
              </a:path>
            </a:pathLst>
          </a:custGeom>
          <a:blipFill>
            <a:blip r:embed="rId5"/>
            <a:stretch>
              <a:fillRect l="0" t="0" r="0" b="0"/>
            </a:stretch>
          </a:blipFill>
        </p:spPr>
      </p:sp>
      <p:sp>
        <p:nvSpPr>
          <p:cNvPr name="Freeform 8" id="8"/>
          <p:cNvSpPr/>
          <p:nvPr/>
        </p:nvSpPr>
        <p:spPr>
          <a:xfrm flipH="false" flipV="false" rot="0">
            <a:off x="15203654" y="4379895"/>
            <a:ext cx="2741674" cy="851308"/>
          </a:xfrm>
          <a:custGeom>
            <a:avLst/>
            <a:gdLst/>
            <a:ahLst/>
            <a:cxnLst/>
            <a:rect r="r" b="b" t="t" l="l"/>
            <a:pathLst>
              <a:path h="851308" w="2741674">
                <a:moveTo>
                  <a:pt x="0" y="0"/>
                </a:moveTo>
                <a:lnTo>
                  <a:pt x="2741674" y="0"/>
                </a:lnTo>
                <a:lnTo>
                  <a:pt x="2741674" y="851309"/>
                </a:lnTo>
                <a:lnTo>
                  <a:pt x="0" y="851309"/>
                </a:lnTo>
                <a:lnTo>
                  <a:pt x="0" y="0"/>
                </a:lnTo>
                <a:close/>
              </a:path>
            </a:pathLst>
          </a:custGeom>
          <a:blipFill>
            <a:blip r:embed="rId6"/>
            <a:stretch>
              <a:fillRect l="0" t="0" r="-4960" b="0"/>
            </a:stretch>
          </a:blipFill>
        </p:spPr>
      </p:sp>
      <p:sp>
        <p:nvSpPr>
          <p:cNvPr name="Freeform 9" id="9"/>
          <p:cNvSpPr/>
          <p:nvPr/>
        </p:nvSpPr>
        <p:spPr>
          <a:xfrm flipH="false" flipV="false" rot="0">
            <a:off x="14344579" y="3023742"/>
            <a:ext cx="948896" cy="948896"/>
          </a:xfrm>
          <a:custGeom>
            <a:avLst/>
            <a:gdLst/>
            <a:ahLst/>
            <a:cxnLst/>
            <a:rect r="r" b="b" t="t" l="l"/>
            <a:pathLst>
              <a:path h="948896" w="948896">
                <a:moveTo>
                  <a:pt x="0" y="0"/>
                </a:moveTo>
                <a:lnTo>
                  <a:pt x="948896" y="0"/>
                </a:lnTo>
                <a:lnTo>
                  <a:pt x="948896" y="948897"/>
                </a:lnTo>
                <a:lnTo>
                  <a:pt x="0" y="948897"/>
                </a:lnTo>
                <a:lnTo>
                  <a:pt x="0" y="0"/>
                </a:lnTo>
                <a:close/>
              </a:path>
            </a:pathLst>
          </a:custGeom>
          <a:blipFill>
            <a:blip r:embed="rId7"/>
            <a:stretch>
              <a:fillRect l="0" t="0" r="0" b="0"/>
            </a:stretch>
          </a:blipFill>
        </p:spPr>
      </p:sp>
      <p:sp>
        <p:nvSpPr>
          <p:cNvPr name="Freeform 10" id="10"/>
          <p:cNvSpPr/>
          <p:nvPr/>
        </p:nvSpPr>
        <p:spPr>
          <a:xfrm flipH="false" flipV="false" rot="0">
            <a:off x="15413699" y="5469329"/>
            <a:ext cx="2438450" cy="1037638"/>
          </a:xfrm>
          <a:custGeom>
            <a:avLst/>
            <a:gdLst/>
            <a:ahLst/>
            <a:cxnLst/>
            <a:rect r="r" b="b" t="t" l="l"/>
            <a:pathLst>
              <a:path h="1037638" w="2438450">
                <a:moveTo>
                  <a:pt x="0" y="0"/>
                </a:moveTo>
                <a:lnTo>
                  <a:pt x="2438450" y="0"/>
                </a:lnTo>
                <a:lnTo>
                  <a:pt x="2438450" y="1037638"/>
                </a:lnTo>
                <a:lnTo>
                  <a:pt x="0" y="1037638"/>
                </a:lnTo>
                <a:lnTo>
                  <a:pt x="0" y="0"/>
                </a:lnTo>
                <a:close/>
              </a:path>
            </a:pathLst>
          </a:custGeom>
          <a:blipFill>
            <a:blip r:embed="rId8"/>
            <a:stretch>
              <a:fillRect l="0" t="0" r="0" b="0"/>
            </a:stretch>
          </a:blipFill>
        </p:spPr>
      </p:sp>
      <p:sp>
        <p:nvSpPr>
          <p:cNvPr name="Freeform 11" id="11"/>
          <p:cNvSpPr/>
          <p:nvPr/>
        </p:nvSpPr>
        <p:spPr>
          <a:xfrm flipH="false" flipV="false" rot="0">
            <a:off x="14105594" y="4216039"/>
            <a:ext cx="703617" cy="853677"/>
          </a:xfrm>
          <a:custGeom>
            <a:avLst/>
            <a:gdLst/>
            <a:ahLst/>
            <a:cxnLst/>
            <a:rect r="r" b="b" t="t" l="l"/>
            <a:pathLst>
              <a:path h="853677" w="703617">
                <a:moveTo>
                  <a:pt x="0" y="0"/>
                </a:moveTo>
                <a:lnTo>
                  <a:pt x="703617" y="0"/>
                </a:lnTo>
                <a:lnTo>
                  <a:pt x="703617" y="853677"/>
                </a:lnTo>
                <a:lnTo>
                  <a:pt x="0" y="853677"/>
                </a:lnTo>
                <a:lnTo>
                  <a:pt x="0" y="0"/>
                </a:lnTo>
                <a:close/>
              </a:path>
            </a:pathLst>
          </a:custGeom>
          <a:blipFill>
            <a:blip r:embed="rId9"/>
            <a:stretch>
              <a:fillRect l="0" t="0" r="0" b="0"/>
            </a:stretch>
          </a:blipFill>
        </p:spPr>
      </p:sp>
      <p:sp>
        <p:nvSpPr>
          <p:cNvPr name="Freeform 12" id="12"/>
          <p:cNvSpPr/>
          <p:nvPr/>
        </p:nvSpPr>
        <p:spPr>
          <a:xfrm flipH="false" flipV="false" rot="0">
            <a:off x="16726103" y="7018717"/>
            <a:ext cx="1126045" cy="1126045"/>
          </a:xfrm>
          <a:custGeom>
            <a:avLst/>
            <a:gdLst/>
            <a:ahLst/>
            <a:cxnLst/>
            <a:rect r="r" b="b" t="t" l="l"/>
            <a:pathLst>
              <a:path h="1126045" w="1126045">
                <a:moveTo>
                  <a:pt x="0" y="0"/>
                </a:moveTo>
                <a:lnTo>
                  <a:pt x="1126046" y="0"/>
                </a:lnTo>
                <a:lnTo>
                  <a:pt x="1126046" y="1126046"/>
                </a:lnTo>
                <a:lnTo>
                  <a:pt x="0" y="11260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5014939" y="7279727"/>
            <a:ext cx="1711164" cy="865036"/>
          </a:xfrm>
          <a:custGeom>
            <a:avLst/>
            <a:gdLst/>
            <a:ahLst/>
            <a:cxnLst/>
            <a:rect r="r" b="b" t="t" l="l"/>
            <a:pathLst>
              <a:path h="865036" w="1711164">
                <a:moveTo>
                  <a:pt x="0" y="0"/>
                </a:moveTo>
                <a:lnTo>
                  <a:pt x="1711164" y="0"/>
                </a:lnTo>
                <a:lnTo>
                  <a:pt x="1711164" y="865036"/>
                </a:lnTo>
                <a:lnTo>
                  <a:pt x="0" y="865036"/>
                </a:lnTo>
                <a:lnTo>
                  <a:pt x="0" y="0"/>
                </a:lnTo>
                <a:close/>
              </a:path>
            </a:pathLst>
          </a:custGeom>
          <a:blipFill>
            <a:blip r:embed="rId12"/>
            <a:stretch>
              <a:fillRect l="0" t="0" r="0" b="0"/>
            </a:stretch>
          </a:blipFill>
        </p:spPr>
      </p:sp>
      <p:sp>
        <p:nvSpPr>
          <p:cNvPr name="Freeform 14" id="14"/>
          <p:cNvSpPr/>
          <p:nvPr/>
        </p:nvSpPr>
        <p:spPr>
          <a:xfrm flipH="false" flipV="false" rot="0">
            <a:off x="15283659" y="8958678"/>
            <a:ext cx="2568490" cy="436204"/>
          </a:xfrm>
          <a:custGeom>
            <a:avLst/>
            <a:gdLst/>
            <a:ahLst/>
            <a:cxnLst/>
            <a:rect r="r" b="b" t="t" l="l"/>
            <a:pathLst>
              <a:path h="436204" w="2568490">
                <a:moveTo>
                  <a:pt x="0" y="0"/>
                </a:moveTo>
                <a:lnTo>
                  <a:pt x="2568490" y="0"/>
                </a:lnTo>
                <a:lnTo>
                  <a:pt x="2568490" y="436203"/>
                </a:lnTo>
                <a:lnTo>
                  <a:pt x="0" y="436203"/>
                </a:lnTo>
                <a:lnTo>
                  <a:pt x="0" y="0"/>
                </a:lnTo>
                <a:close/>
              </a:path>
            </a:pathLst>
          </a:custGeom>
          <a:blipFill>
            <a:blip r:embed="rId13"/>
            <a:stretch>
              <a:fillRect l="0" t="0" r="-2830" b="0"/>
            </a:stretch>
          </a:blipFill>
        </p:spPr>
      </p:sp>
      <p:sp>
        <p:nvSpPr>
          <p:cNvPr name="Freeform 15" id="15"/>
          <p:cNvSpPr/>
          <p:nvPr/>
        </p:nvSpPr>
        <p:spPr>
          <a:xfrm flipH="false" flipV="false" rot="0">
            <a:off x="13546396" y="7832088"/>
            <a:ext cx="1118397" cy="1126590"/>
          </a:xfrm>
          <a:custGeom>
            <a:avLst/>
            <a:gdLst/>
            <a:ahLst/>
            <a:cxnLst/>
            <a:rect r="r" b="b" t="t" l="l"/>
            <a:pathLst>
              <a:path h="1126590" w="1118397">
                <a:moveTo>
                  <a:pt x="0" y="0"/>
                </a:moveTo>
                <a:lnTo>
                  <a:pt x="1118396" y="0"/>
                </a:lnTo>
                <a:lnTo>
                  <a:pt x="1118396" y="1126590"/>
                </a:lnTo>
                <a:lnTo>
                  <a:pt x="0" y="112659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3971235" y="5309796"/>
            <a:ext cx="1387115" cy="877795"/>
          </a:xfrm>
          <a:custGeom>
            <a:avLst/>
            <a:gdLst/>
            <a:ahLst/>
            <a:cxnLst/>
            <a:rect r="r" b="b" t="t" l="l"/>
            <a:pathLst>
              <a:path h="877795" w="1387115">
                <a:moveTo>
                  <a:pt x="0" y="0"/>
                </a:moveTo>
                <a:lnTo>
                  <a:pt x="1387114" y="0"/>
                </a:lnTo>
                <a:lnTo>
                  <a:pt x="1387114" y="877795"/>
                </a:lnTo>
                <a:lnTo>
                  <a:pt x="0" y="877795"/>
                </a:lnTo>
                <a:lnTo>
                  <a:pt x="0" y="0"/>
                </a:lnTo>
                <a:close/>
              </a:path>
            </a:pathLst>
          </a:custGeom>
          <a:blipFill>
            <a:blip r:embed="rId16"/>
            <a:stretch>
              <a:fillRect l="0" t="-4808" r="0" b="-7050"/>
            </a:stretch>
          </a:blipFill>
        </p:spPr>
      </p:sp>
      <p:sp>
        <p:nvSpPr>
          <p:cNvPr name="Freeform 17" id="17"/>
          <p:cNvSpPr/>
          <p:nvPr/>
        </p:nvSpPr>
        <p:spPr>
          <a:xfrm flipH="false" flipV="false" rot="0">
            <a:off x="14105594" y="6422533"/>
            <a:ext cx="971914" cy="971914"/>
          </a:xfrm>
          <a:custGeom>
            <a:avLst/>
            <a:gdLst/>
            <a:ahLst/>
            <a:cxnLst/>
            <a:rect r="r" b="b" t="t" l="l"/>
            <a:pathLst>
              <a:path h="971914" w="971914">
                <a:moveTo>
                  <a:pt x="0" y="0"/>
                </a:moveTo>
                <a:lnTo>
                  <a:pt x="971913" y="0"/>
                </a:lnTo>
                <a:lnTo>
                  <a:pt x="971913" y="971914"/>
                </a:lnTo>
                <a:lnTo>
                  <a:pt x="0" y="971914"/>
                </a:lnTo>
                <a:lnTo>
                  <a:pt x="0" y="0"/>
                </a:lnTo>
                <a:close/>
              </a:path>
            </a:pathLst>
          </a:custGeom>
          <a:blipFill>
            <a:blip r:embed="rId17"/>
            <a:stretch>
              <a:fillRect l="0" t="0" r="0" b="0"/>
            </a:stretch>
          </a:blipFill>
        </p:spPr>
      </p:sp>
      <p:sp>
        <p:nvSpPr>
          <p:cNvPr name="TextBox 18" id="18"/>
          <p:cNvSpPr txBox="true"/>
          <p:nvPr/>
        </p:nvSpPr>
        <p:spPr>
          <a:xfrm rot="0">
            <a:off x="5632918" y="300245"/>
            <a:ext cx="7022163"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TECHNOLOGY STACK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TextBox 4" id="4"/>
          <p:cNvSpPr txBox="true"/>
          <p:nvPr/>
        </p:nvSpPr>
        <p:spPr>
          <a:xfrm rot="0">
            <a:off x="7120832" y="259730"/>
            <a:ext cx="4046335"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WORKFLOW</a:t>
            </a:r>
          </a:p>
        </p:txBody>
      </p:sp>
      <p:sp>
        <p:nvSpPr>
          <p:cNvPr name="TextBox 5" id="5"/>
          <p:cNvSpPr txBox="true"/>
          <p:nvPr/>
        </p:nvSpPr>
        <p:spPr>
          <a:xfrm rot="0">
            <a:off x="815500" y="1205444"/>
            <a:ext cx="12486085" cy="8547735"/>
          </a:xfrm>
          <a:prstGeom prst="rect">
            <a:avLst/>
          </a:prstGeom>
        </p:spPr>
        <p:txBody>
          <a:bodyPr anchor="t" rtlCol="false" tIns="0" lIns="0" bIns="0" rIns="0">
            <a:spAutoFit/>
          </a:bodyPr>
          <a:lstStyle/>
          <a:p>
            <a:pPr algn="l" marL="453387" indent="-226693" lvl="1">
              <a:lnSpc>
                <a:spcPts val="2939"/>
              </a:lnSpc>
              <a:buFont typeface="Arial"/>
              <a:buChar char="•"/>
            </a:pPr>
            <a:r>
              <a:rPr lang="en-US" b="true" sz="2099">
                <a:solidFill>
                  <a:srgbClr val="000000"/>
                </a:solidFill>
                <a:latin typeface="Poppins Bold"/>
                <a:ea typeface="Poppins Bold"/>
                <a:cs typeface="Poppins Bold"/>
                <a:sym typeface="Poppins Bold"/>
              </a:rPr>
              <a:t>Storm Detection (Every 55 seconds): CELESTIS </a:t>
            </a:r>
            <a:r>
              <a:rPr lang="en-US" sz="2099">
                <a:solidFill>
                  <a:srgbClr val="000000"/>
                </a:solidFill>
                <a:latin typeface="Poppins"/>
                <a:ea typeface="Poppins"/>
                <a:cs typeface="Poppins"/>
                <a:sym typeface="Poppins"/>
              </a:rPr>
              <a:t>continuously pulls live data from </a:t>
            </a:r>
            <a:r>
              <a:rPr lang="en-US" b="true" sz="2099">
                <a:solidFill>
                  <a:srgbClr val="000000"/>
                </a:solidFill>
                <a:latin typeface="Poppins Bold"/>
                <a:ea typeface="Poppins Bold"/>
                <a:cs typeface="Poppins Bold"/>
                <a:sym typeface="Poppins Bold"/>
              </a:rPr>
              <a:t>5 government feeds</a:t>
            </a:r>
            <a:r>
              <a:rPr lang="en-US" sz="2099">
                <a:solidFill>
                  <a:srgbClr val="000000"/>
                </a:solidFill>
                <a:latin typeface="Poppins"/>
                <a:ea typeface="Poppins"/>
                <a:cs typeface="Poppins"/>
                <a:sym typeface="Poppins"/>
              </a:rPr>
              <a:t>.</a:t>
            </a:r>
            <a:r>
              <a:rPr lang="en-US" sz="2099">
                <a:solidFill>
                  <a:srgbClr val="000000"/>
                </a:solidFill>
                <a:latin typeface="Poppins"/>
                <a:ea typeface="Poppins"/>
                <a:cs typeface="Poppins"/>
                <a:sym typeface="Poppins"/>
              </a:rPr>
              <a:t> All feeds are fused into a unified storm state vector. When </a:t>
            </a:r>
            <a:r>
              <a:rPr lang="en-US" b="true" sz="2099">
                <a:solidFill>
                  <a:srgbClr val="000000"/>
                </a:solidFill>
                <a:latin typeface="Poppins Bold"/>
                <a:ea typeface="Poppins Bold"/>
                <a:cs typeface="Poppins Bold"/>
                <a:sym typeface="Poppins Bold"/>
              </a:rPr>
              <a:t>Kp &gt; 5</a:t>
            </a:r>
            <a:r>
              <a:rPr lang="en-US" sz="2099">
                <a:solidFill>
                  <a:srgbClr val="000000"/>
                </a:solidFill>
                <a:latin typeface="Poppins"/>
                <a:ea typeface="Poppins"/>
                <a:cs typeface="Poppins"/>
                <a:sym typeface="Poppins"/>
              </a:rPr>
              <a:t>, the system activates.</a:t>
            </a:r>
          </a:p>
          <a:p>
            <a:pPr algn="l">
              <a:lnSpc>
                <a:spcPts val="2939"/>
              </a:lnSpc>
            </a:pPr>
          </a:p>
          <a:p>
            <a:pPr algn="l" marL="453387" indent="-226693" lvl="1">
              <a:lnSpc>
                <a:spcPts val="2939"/>
              </a:lnSpc>
              <a:buFont typeface="Arial"/>
              <a:buChar char="•"/>
            </a:pPr>
            <a:r>
              <a:rPr lang="en-US" b="true" sz="2099">
                <a:solidFill>
                  <a:srgbClr val="000000"/>
                </a:solidFill>
                <a:latin typeface="Poppins Bold"/>
                <a:ea typeface="Poppins Bold"/>
                <a:cs typeface="Poppins Bold"/>
                <a:sym typeface="Poppins Bold"/>
              </a:rPr>
              <a:t>AI Drag Prediction: </a:t>
            </a:r>
            <a:r>
              <a:rPr lang="en-US" sz="2099">
                <a:solidFill>
                  <a:srgbClr val="000000"/>
                </a:solidFill>
                <a:latin typeface="Poppins"/>
                <a:ea typeface="Poppins"/>
                <a:cs typeface="Poppins"/>
                <a:sym typeface="Poppins"/>
              </a:rPr>
              <a:t>The storm parameters are fed into a 3 layer </a:t>
            </a:r>
            <a:r>
              <a:rPr lang="en-US" b="true" sz="2099">
                <a:solidFill>
                  <a:srgbClr val="000000"/>
                </a:solidFill>
                <a:latin typeface="Poppins Bold"/>
                <a:ea typeface="Poppins Bold"/>
                <a:cs typeface="Poppins Bold"/>
                <a:sym typeface="Poppins Bold"/>
              </a:rPr>
              <a:t>Physics Informed Neural Network (PINN)</a:t>
            </a:r>
            <a:r>
              <a:rPr lang="en-US" sz="2099">
                <a:solidFill>
                  <a:srgbClr val="000000"/>
                </a:solidFill>
                <a:latin typeface="Poppins"/>
                <a:ea typeface="Poppins"/>
                <a:cs typeface="Poppins"/>
                <a:sym typeface="Poppins"/>
              </a:rPr>
              <a:t>. First,   </a:t>
            </a:r>
            <a:r>
              <a:rPr lang="en-US" b="true" sz="2099">
                <a:solidFill>
                  <a:srgbClr val="000000"/>
                </a:solidFill>
                <a:latin typeface="Poppins Bold"/>
                <a:ea typeface="Poppins Bold"/>
                <a:cs typeface="Poppins Bold"/>
                <a:sym typeface="Poppins Bold"/>
              </a:rPr>
              <a:t>NRLMSISE-00</a:t>
            </a:r>
            <a:r>
              <a:rPr lang="en-US" sz="2099">
                <a:solidFill>
                  <a:srgbClr val="000000"/>
                </a:solidFill>
                <a:latin typeface="Poppins"/>
                <a:ea typeface="Poppins"/>
                <a:cs typeface="Poppins"/>
                <a:sym typeface="Poppins"/>
              </a:rPr>
              <a:t> computes the baseline density prediction. The PINN then predicts the residual error that physics alone misses, constrained by orbital mechanics so it cannot produce physically impossible outputs. As a Result altitude drop forecast per satellite for the next storm phase.</a:t>
            </a:r>
          </a:p>
          <a:p>
            <a:pPr algn="l">
              <a:lnSpc>
                <a:spcPts val="2939"/>
              </a:lnSpc>
            </a:pPr>
          </a:p>
          <a:p>
            <a:pPr algn="l" marL="453387" indent="-226693" lvl="1">
              <a:lnSpc>
                <a:spcPts val="2939"/>
              </a:lnSpc>
              <a:buFont typeface="Arial"/>
              <a:buChar char="•"/>
            </a:pPr>
            <a:r>
              <a:rPr lang="en-US" b="true" sz="2099">
                <a:solidFill>
                  <a:srgbClr val="000000"/>
                </a:solidFill>
                <a:latin typeface="Poppins Bold"/>
                <a:ea typeface="Poppins Bold"/>
                <a:cs typeface="Poppins Bold"/>
                <a:sym typeface="Poppins Bold"/>
              </a:rPr>
              <a:t>Debris Collision Analysis (Every 15 minutes): </a:t>
            </a:r>
            <a:r>
              <a:rPr lang="en-US" sz="2099">
                <a:solidFill>
                  <a:srgbClr val="000000"/>
                </a:solidFill>
                <a:latin typeface="Poppins"/>
                <a:ea typeface="Poppins"/>
                <a:cs typeface="Poppins"/>
                <a:sym typeface="Poppins"/>
              </a:rPr>
              <a:t>The</a:t>
            </a:r>
            <a:r>
              <a:rPr lang="en-US" b="true" sz="2099">
                <a:solidFill>
                  <a:srgbClr val="000000"/>
                </a:solidFill>
                <a:latin typeface="Poppins Bold"/>
                <a:ea typeface="Poppins Bold"/>
                <a:cs typeface="Poppins Bold"/>
                <a:sym typeface="Poppins Bold"/>
              </a:rPr>
              <a:t> COLA</a:t>
            </a:r>
            <a:r>
              <a:rPr lang="en-US" sz="2099">
                <a:solidFill>
                  <a:srgbClr val="000000"/>
                </a:solidFill>
                <a:latin typeface="Poppins"/>
                <a:ea typeface="Poppins"/>
                <a:cs typeface="Poppins"/>
                <a:sym typeface="Poppins"/>
              </a:rPr>
              <a:t> engine propagates</a:t>
            </a:r>
            <a:r>
              <a:rPr lang="en-US" b="true" sz="2099">
                <a:solidFill>
                  <a:srgbClr val="000000"/>
                </a:solidFill>
                <a:latin typeface="Poppins Bold"/>
                <a:ea typeface="Poppins Bold"/>
                <a:cs typeface="Poppins Bold"/>
                <a:sym typeface="Poppins Bold"/>
              </a:rPr>
              <a:t> 200+</a:t>
            </a:r>
            <a:r>
              <a:rPr lang="en-US" sz="2099">
                <a:solidFill>
                  <a:srgbClr val="000000"/>
                </a:solidFill>
                <a:latin typeface="Poppins"/>
                <a:ea typeface="Poppins"/>
                <a:cs typeface="Poppins"/>
                <a:sym typeface="Poppins"/>
              </a:rPr>
              <a:t> real debris objects using</a:t>
            </a:r>
            <a:r>
              <a:rPr lang="en-US" b="true" sz="2099">
                <a:solidFill>
                  <a:srgbClr val="000000"/>
                </a:solidFill>
                <a:latin typeface="Poppins Bold"/>
                <a:ea typeface="Poppins Bold"/>
                <a:cs typeface="Poppins Bold"/>
                <a:sym typeface="Poppins Bold"/>
              </a:rPr>
              <a:t> SGP4 </a:t>
            </a:r>
            <a:r>
              <a:rPr lang="en-US" sz="2099">
                <a:solidFill>
                  <a:srgbClr val="000000"/>
                </a:solidFill>
                <a:latin typeface="Poppins"/>
                <a:ea typeface="Poppins"/>
                <a:cs typeface="Poppins"/>
                <a:sym typeface="Poppins"/>
              </a:rPr>
              <a:t>orbital mechanics over</a:t>
            </a:r>
            <a:r>
              <a:rPr lang="en-US" b="true" sz="2099">
                <a:solidFill>
                  <a:srgbClr val="000000"/>
                </a:solidFill>
                <a:latin typeface="Poppins Bold"/>
                <a:ea typeface="Poppins Bold"/>
                <a:cs typeface="Poppins Bold"/>
                <a:sym typeface="Poppins Bold"/>
              </a:rPr>
              <a:t> 1,440 time steps (24 hours). </a:t>
            </a:r>
            <a:r>
              <a:rPr lang="en-US" sz="2099">
                <a:solidFill>
                  <a:srgbClr val="000000"/>
                </a:solidFill>
                <a:latin typeface="Poppins"/>
                <a:ea typeface="Poppins"/>
                <a:cs typeface="Poppins"/>
                <a:sym typeface="Poppins"/>
              </a:rPr>
              <a:t>For each satellite debris pair, it computes miss distance and applies </a:t>
            </a:r>
            <a:r>
              <a:rPr lang="en-US" b="true" sz="2099">
                <a:solidFill>
                  <a:srgbClr val="000000"/>
                </a:solidFill>
                <a:latin typeface="Poppins Bold"/>
                <a:ea typeface="Poppins Bold"/>
                <a:cs typeface="Poppins Bold"/>
                <a:sym typeface="Poppins Bold"/>
              </a:rPr>
              <a:t>Chan's formula </a:t>
            </a:r>
            <a:r>
              <a:rPr lang="en-US" sz="2099">
                <a:solidFill>
                  <a:srgbClr val="000000"/>
                </a:solidFill>
                <a:latin typeface="Poppins"/>
                <a:ea typeface="Poppins"/>
                <a:cs typeface="Poppins"/>
                <a:sym typeface="Poppins"/>
              </a:rPr>
              <a:t>to calculate collision probability.</a:t>
            </a:r>
          </a:p>
          <a:p>
            <a:pPr algn="l">
              <a:lnSpc>
                <a:spcPts val="2939"/>
              </a:lnSpc>
            </a:pPr>
          </a:p>
          <a:p>
            <a:pPr algn="l" marL="453387" indent="-226693" lvl="1">
              <a:lnSpc>
                <a:spcPts val="2939"/>
              </a:lnSpc>
              <a:buFont typeface="Arial"/>
              <a:buChar char="•"/>
            </a:pPr>
            <a:r>
              <a:rPr lang="en-US" b="true" sz="2099">
                <a:solidFill>
                  <a:srgbClr val="000000"/>
                </a:solidFill>
                <a:latin typeface="Poppins Bold"/>
                <a:ea typeface="Poppins Bold"/>
                <a:cs typeface="Poppins Bold"/>
                <a:sym typeface="Poppins Bold"/>
              </a:rPr>
              <a:t>Maneuver Planning:</a:t>
            </a:r>
            <a:r>
              <a:rPr lang="en-US" sz="2099">
                <a:solidFill>
                  <a:srgbClr val="000000"/>
                </a:solidFill>
                <a:latin typeface="Poppins"/>
                <a:ea typeface="Poppins"/>
                <a:cs typeface="Poppins"/>
                <a:sym typeface="Poppins"/>
              </a:rPr>
              <a:t> For flagged satellites, the Maneuver Engine calculates the exact Delta V burn needed using the </a:t>
            </a:r>
            <a:r>
              <a:rPr lang="en-US" b="true" sz="2099">
                <a:solidFill>
                  <a:srgbClr val="000000"/>
                </a:solidFill>
                <a:latin typeface="Poppins Bold"/>
                <a:ea typeface="Poppins Bold"/>
                <a:cs typeface="Poppins Bold"/>
                <a:sym typeface="Poppins Bold"/>
              </a:rPr>
              <a:t>Tsiolkovsky rocket equation</a:t>
            </a:r>
            <a:r>
              <a:rPr lang="en-US" sz="2099">
                <a:solidFill>
                  <a:srgbClr val="000000"/>
                </a:solidFill>
                <a:latin typeface="Poppins"/>
                <a:ea typeface="Poppins"/>
                <a:cs typeface="Poppins"/>
                <a:sym typeface="Poppins"/>
              </a:rPr>
              <a:t>. The system generates a maneuver recommendation within 1 second per satellite.</a:t>
            </a:r>
          </a:p>
          <a:p>
            <a:pPr algn="l">
              <a:lnSpc>
                <a:spcPts val="2939"/>
              </a:lnSpc>
            </a:pPr>
          </a:p>
          <a:p>
            <a:pPr algn="l" marL="453387" indent="-226693" lvl="1">
              <a:lnSpc>
                <a:spcPts val="2939"/>
              </a:lnSpc>
              <a:spcBef>
                <a:spcPct val="0"/>
              </a:spcBef>
              <a:buFont typeface="Arial"/>
              <a:buChar char="•"/>
            </a:pPr>
            <a:r>
              <a:rPr lang="en-US" b="true" sz="2099">
                <a:solidFill>
                  <a:srgbClr val="000000"/>
                </a:solidFill>
                <a:latin typeface="Poppins Bold"/>
                <a:ea typeface="Poppins Bold"/>
                <a:cs typeface="Poppins Bold"/>
                <a:sym typeface="Poppins Bold"/>
              </a:rPr>
              <a:t>Operator Decision:</a:t>
            </a:r>
            <a:r>
              <a:rPr lang="en-US" sz="2099">
                <a:solidFill>
                  <a:srgbClr val="000000"/>
                </a:solidFill>
                <a:latin typeface="Poppins"/>
                <a:ea typeface="Poppins"/>
                <a:cs typeface="Poppins"/>
                <a:sym typeface="Poppins"/>
              </a:rPr>
              <a:t> The Viewer dashboard presents all predictions, alerts, and maneuver options in a 4 quadrant layout. The operator can: (a) approve and execute in Human on the Loop mode, or (b) set Full Autonomy and let CELESTIS execute maneuvers without human input.</a:t>
            </a:r>
          </a:p>
        </p:txBody>
      </p:sp>
      <p:sp>
        <p:nvSpPr>
          <p:cNvPr name="Freeform 6" id="6"/>
          <p:cNvSpPr/>
          <p:nvPr/>
        </p:nvSpPr>
        <p:spPr>
          <a:xfrm flipH="false" flipV="false" rot="0">
            <a:off x="13301585" y="4228174"/>
            <a:ext cx="4335358" cy="4056022"/>
          </a:xfrm>
          <a:custGeom>
            <a:avLst/>
            <a:gdLst/>
            <a:ahLst/>
            <a:cxnLst/>
            <a:rect r="r" b="b" t="t" l="l"/>
            <a:pathLst>
              <a:path h="4056022" w="4335358">
                <a:moveTo>
                  <a:pt x="0" y="0"/>
                </a:moveTo>
                <a:lnTo>
                  <a:pt x="4335358" y="0"/>
                </a:lnTo>
                <a:lnTo>
                  <a:pt x="4335358" y="4056022"/>
                </a:lnTo>
                <a:lnTo>
                  <a:pt x="0" y="4056022"/>
                </a:lnTo>
                <a:lnTo>
                  <a:pt x="0" y="0"/>
                </a:lnTo>
                <a:close/>
              </a:path>
            </a:pathLst>
          </a:custGeom>
          <a:blipFill>
            <a:blip r:embed="rId3"/>
            <a:stretch>
              <a:fillRect l="0" t="-10393" r="0" b="-2694"/>
            </a:stretch>
          </a:blipFill>
          <a:ln w="38100" cap="sq">
            <a:solidFill>
              <a:srgbClr val="000000"/>
            </a:solid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TextBox 4" id="4"/>
          <p:cNvSpPr txBox="true"/>
          <p:nvPr/>
        </p:nvSpPr>
        <p:spPr>
          <a:xfrm rot="0">
            <a:off x="7801619" y="259730"/>
            <a:ext cx="2686820"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IMPACT</a:t>
            </a:r>
          </a:p>
        </p:txBody>
      </p:sp>
      <p:sp>
        <p:nvSpPr>
          <p:cNvPr name="TextBox 5" id="5"/>
          <p:cNvSpPr txBox="true"/>
          <p:nvPr/>
        </p:nvSpPr>
        <p:spPr>
          <a:xfrm rot="0">
            <a:off x="602300" y="1834720"/>
            <a:ext cx="16657000" cy="5997575"/>
          </a:xfrm>
          <a:prstGeom prst="rect">
            <a:avLst/>
          </a:prstGeom>
        </p:spPr>
        <p:txBody>
          <a:bodyPr anchor="t" rtlCol="false" tIns="0" lIns="0" bIns="0" rIns="0">
            <a:spAutoFit/>
          </a:bodyPr>
          <a:lstStyle/>
          <a:p>
            <a:pPr algn="l">
              <a:lnSpc>
                <a:spcPts val="2799"/>
              </a:lnSpc>
            </a:pPr>
            <a:r>
              <a:rPr lang="en-US" sz="1999" b="true">
                <a:solidFill>
                  <a:srgbClr val="000000"/>
                </a:solidFill>
                <a:latin typeface="Poppins Bold"/>
                <a:ea typeface="Poppins Bold"/>
                <a:cs typeface="Poppins Bold"/>
                <a:sym typeface="Poppins Bold"/>
              </a:rPr>
              <a:t>Performance Benefits:</a:t>
            </a:r>
          </a:p>
          <a:p>
            <a:pPr algn="l" marL="431797" indent="-215899" lvl="1">
              <a:lnSpc>
                <a:spcPts val="2799"/>
              </a:lnSpc>
              <a:buFont typeface="Arial"/>
              <a:buChar char="•"/>
            </a:pPr>
            <a:r>
              <a:rPr lang="en-US" sz="1999">
                <a:solidFill>
                  <a:srgbClr val="000000"/>
                </a:solidFill>
                <a:latin typeface="Poppins"/>
                <a:ea typeface="Poppins"/>
                <a:cs typeface="Poppins"/>
                <a:sym typeface="Poppins"/>
              </a:rPr>
              <a:t>58.3% more accurate than physics only models at predicting satellite drag during storms</a:t>
            </a:r>
          </a:p>
          <a:p>
            <a:pPr algn="l">
              <a:lnSpc>
                <a:spcPts val="2799"/>
              </a:lnSpc>
            </a:pPr>
          </a:p>
          <a:p>
            <a:pPr algn="l" marL="431797" indent="-215899" lvl="1">
              <a:lnSpc>
                <a:spcPts val="2799"/>
              </a:lnSpc>
              <a:buFont typeface="Arial"/>
              <a:buChar char="•"/>
            </a:pPr>
            <a:r>
              <a:rPr lang="en-US" sz="1999">
                <a:solidFill>
                  <a:srgbClr val="000000"/>
                </a:solidFill>
                <a:latin typeface="Poppins"/>
                <a:ea typeface="Poppins"/>
                <a:cs typeface="Poppins"/>
                <a:sym typeface="Poppins"/>
              </a:rPr>
              <a:t>Full maneuver recommendation generated in under 1 second per satellite</a:t>
            </a:r>
          </a:p>
          <a:p>
            <a:pPr algn="l">
              <a:lnSpc>
                <a:spcPts val="2799"/>
              </a:lnSpc>
            </a:pPr>
          </a:p>
          <a:p>
            <a:pPr algn="l">
              <a:lnSpc>
                <a:spcPts val="2799"/>
              </a:lnSpc>
            </a:pPr>
            <a:r>
              <a:rPr lang="en-US" sz="1999" b="true">
                <a:solidFill>
                  <a:srgbClr val="000000"/>
                </a:solidFill>
                <a:latin typeface="Poppins Bold"/>
                <a:ea typeface="Poppins Bold"/>
                <a:cs typeface="Poppins Bold"/>
                <a:sym typeface="Poppins Bold"/>
              </a:rPr>
              <a:t>Real World Impact:</a:t>
            </a: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Prevents Multi Million Dollar Losses. </a:t>
            </a:r>
            <a:r>
              <a:rPr lang="en-US" sz="1999">
                <a:solidFill>
                  <a:srgbClr val="000000"/>
                </a:solidFill>
                <a:latin typeface="Poppins"/>
                <a:ea typeface="Poppins"/>
                <a:cs typeface="Poppins"/>
                <a:sym typeface="Poppins"/>
              </a:rPr>
              <a:t>A single storm like Starlink 2022 destroyed $50M+ in satellites. CELESTIS could have predicted and prevented that loss</a:t>
            </a:r>
          </a:p>
          <a:p>
            <a:pPr algn="l">
              <a:lnSpc>
                <a:spcPts val="2799"/>
              </a:lnSpc>
            </a:pP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Enables Autonomous Operations</a:t>
            </a:r>
            <a:r>
              <a:rPr lang="en-US" sz="1999">
                <a:solidFill>
                  <a:srgbClr val="000000"/>
                </a:solidFill>
                <a:latin typeface="Poppins"/>
                <a:ea typeface="Poppins"/>
                <a:cs typeface="Poppins"/>
                <a:sym typeface="Poppins"/>
              </a:rPr>
              <a:t>. As India scales to 100+ satellites, manual monitoring becomes impossible. CELESTIS automates fleet protection end to end.</a:t>
            </a:r>
          </a:p>
          <a:p>
            <a:pPr algn="l">
              <a:lnSpc>
                <a:spcPts val="2799"/>
              </a:lnSpc>
            </a:pP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Builds India’s Space Sovereignty</a:t>
            </a:r>
            <a:r>
              <a:rPr lang="en-US" sz="1999">
                <a:solidFill>
                  <a:srgbClr val="000000"/>
                </a:solidFill>
                <a:latin typeface="Poppins"/>
                <a:ea typeface="Poppins"/>
                <a:cs typeface="Poppins"/>
                <a:sym typeface="Poppins"/>
              </a:rPr>
              <a:t>. No dependence on foreign tools like STK ($50K+/licence). CELESTIS is fully indigenous.</a:t>
            </a:r>
          </a:p>
          <a:p>
            <a:pPr algn="l">
              <a:lnSpc>
                <a:spcPts val="2799"/>
              </a:lnSpc>
            </a:pPr>
          </a:p>
          <a:p>
            <a:pPr algn="l" marL="431797" indent="-215899" lvl="1">
              <a:lnSpc>
                <a:spcPts val="2799"/>
              </a:lnSpc>
              <a:buFont typeface="Arial"/>
              <a:buChar char="•"/>
            </a:pPr>
            <a:r>
              <a:rPr lang="en-US" b="true" sz="1999">
                <a:solidFill>
                  <a:srgbClr val="000000"/>
                </a:solidFill>
                <a:latin typeface="Poppins Bold"/>
                <a:ea typeface="Poppins Bold"/>
                <a:cs typeface="Poppins Bold"/>
                <a:sym typeface="Poppins Bold"/>
              </a:rPr>
              <a:t>Saves crucial Scientist work Hours Per Storm</a:t>
            </a:r>
            <a:r>
              <a:rPr lang="en-US" sz="1999">
                <a:solidFill>
                  <a:srgbClr val="000000"/>
                </a:solidFill>
                <a:latin typeface="Poppins"/>
                <a:ea typeface="Poppins"/>
                <a:cs typeface="Poppins"/>
                <a:sym typeface="Poppins"/>
              </a:rPr>
              <a:t>. Teams manually download data, run separate models, compute maneuvers, and cross check results, a process that takes 20 to 40 hours per storm event. CELESTIS does all of this automatically in seconds, freeing scientists to focus on research instead of repetitive calculations.</a:t>
            </a:r>
          </a:p>
        </p:txBody>
      </p:sp>
      <p:grpSp>
        <p:nvGrpSpPr>
          <p:cNvPr name="Group 6" id="6"/>
          <p:cNvGrpSpPr/>
          <p:nvPr/>
        </p:nvGrpSpPr>
        <p:grpSpPr>
          <a:xfrm rot="0">
            <a:off x="2389940" y="8695465"/>
            <a:ext cx="13510177" cy="1125670"/>
            <a:chOff x="0" y="0"/>
            <a:chExt cx="18013569" cy="1500893"/>
          </a:xfrm>
        </p:grpSpPr>
        <p:sp>
          <p:nvSpPr>
            <p:cNvPr name="TextBox 7" id="7"/>
            <p:cNvSpPr txBox="true"/>
            <p:nvPr/>
          </p:nvSpPr>
          <p:spPr>
            <a:xfrm rot="0">
              <a:off x="422438" y="288160"/>
              <a:ext cx="17168694" cy="876948"/>
            </a:xfrm>
            <a:prstGeom prst="rect">
              <a:avLst/>
            </a:prstGeom>
          </p:spPr>
          <p:txBody>
            <a:bodyPr anchor="t" rtlCol="false" tIns="0" lIns="0" bIns="0" rIns="0">
              <a:spAutoFit/>
            </a:bodyPr>
            <a:lstStyle/>
            <a:p>
              <a:pPr algn="ctr">
                <a:lnSpc>
                  <a:spcPts val="2691"/>
                </a:lnSpc>
                <a:spcBef>
                  <a:spcPct val="0"/>
                </a:spcBef>
              </a:pPr>
              <a:r>
                <a:rPr lang="en-US" b="true" sz="1922">
                  <a:solidFill>
                    <a:srgbClr val="000000"/>
                  </a:solidFill>
                  <a:latin typeface="Poppins Bold"/>
                  <a:ea typeface="Poppins Bold"/>
                  <a:cs typeface="Poppins Bold"/>
                  <a:sym typeface="Poppins Bold"/>
                </a:rPr>
                <a:t>CELESTIS turns an extremely reactive and highly time consuming manual process into a quick proactive, and very precise automated process.</a:t>
              </a:r>
            </a:p>
          </p:txBody>
        </p:sp>
        <p:grpSp>
          <p:nvGrpSpPr>
            <p:cNvPr name="Group 8" id="8"/>
            <p:cNvGrpSpPr/>
            <p:nvPr/>
          </p:nvGrpSpPr>
          <p:grpSpPr>
            <a:xfrm rot="0">
              <a:off x="0" y="0"/>
              <a:ext cx="18013569" cy="1500893"/>
              <a:chOff x="0" y="0"/>
              <a:chExt cx="4243931" cy="353605"/>
            </a:xfrm>
          </p:grpSpPr>
          <p:sp>
            <p:nvSpPr>
              <p:cNvPr name="Freeform 9" id="9"/>
              <p:cNvSpPr/>
              <p:nvPr/>
            </p:nvSpPr>
            <p:spPr>
              <a:xfrm flipH="false" flipV="false" rot="0">
                <a:off x="0" y="0"/>
                <a:ext cx="4243930" cy="353605"/>
              </a:xfrm>
              <a:custGeom>
                <a:avLst/>
                <a:gdLst/>
                <a:ahLst/>
                <a:cxnLst/>
                <a:rect r="r" b="b" t="t" l="l"/>
                <a:pathLst>
                  <a:path h="353605" w="4243930">
                    <a:moveTo>
                      <a:pt x="8168" y="0"/>
                    </a:moveTo>
                    <a:lnTo>
                      <a:pt x="4235763" y="0"/>
                    </a:lnTo>
                    <a:cubicBezTo>
                      <a:pt x="4240274" y="0"/>
                      <a:pt x="4243930" y="3657"/>
                      <a:pt x="4243930" y="8168"/>
                    </a:cubicBezTo>
                    <a:lnTo>
                      <a:pt x="4243930" y="345437"/>
                    </a:lnTo>
                    <a:cubicBezTo>
                      <a:pt x="4243930" y="349948"/>
                      <a:pt x="4240274" y="353605"/>
                      <a:pt x="4235763" y="353605"/>
                    </a:cubicBezTo>
                    <a:lnTo>
                      <a:pt x="8168" y="353605"/>
                    </a:lnTo>
                    <a:cubicBezTo>
                      <a:pt x="3657" y="353605"/>
                      <a:pt x="0" y="349948"/>
                      <a:pt x="0" y="345437"/>
                    </a:cubicBezTo>
                    <a:lnTo>
                      <a:pt x="0" y="8168"/>
                    </a:lnTo>
                    <a:cubicBezTo>
                      <a:pt x="0" y="3657"/>
                      <a:pt x="3657" y="0"/>
                      <a:pt x="8168" y="0"/>
                    </a:cubicBezTo>
                    <a:close/>
                  </a:path>
                </a:pathLst>
              </a:custGeom>
              <a:ln w="38100" cap="sq">
                <a:solidFill>
                  <a:srgbClr val="000000"/>
                </a:solidFill>
                <a:prstDash val="solid"/>
                <a:miter/>
              </a:ln>
            </p:spPr>
          </p:sp>
          <p:sp>
            <p:nvSpPr>
              <p:cNvPr name="TextBox 10" id="10"/>
              <p:cNvSpPr txBox="true"/>
              <p:nvPr/>
            </p:nvSpPr>
            <p:spPr>
              <a:xfrm>
                <a:off x="0" y="-47625"/>
                <a:ext cx="4243931" cy="401230"/>
              </a:xfrm>
              <a:prstGeom prst="rect">
                <a:avLst/>
              </a:prstGeom>
            </p:spPr>
            <p:txBody>
              <a:bodyPr anchor="ctr" rtlCol="false" tIns="50800" lIns="50800" bIns="50800" rIns="50800"/>
              <a:lstStyle/>
              <a:p>
                <a:pPr algn="ctr">
                  <a:lnSpc>
                    <a:spcPts val="2499"/>
                  </a:lnSpc>
                </a:pPr>
              </a:p>
            </p:txBody>
          </p:sp>
        </p:grpSp>
      </p:grpSp>
      <p:sp>
        <p:nvSpPr>
          <p:cNvPr name="Freeform 11" id="11"/>
          <p:cNvSpPr/>
          <p:nvPr/>
        </p:nvSpPr>
        <p:spPr>
          <a:xfrm flipH="false" flipV="false" rot="-748860">
            <a:off x="12923546" y="-816241"/>
            <a:ext cx="5224034" cy="3482690"/>
          </a:xfrm>
          <a:custGeom>
            <a:avLst/>
            <a:gdLst/>
            <a:ahLst/>
            <a:cxnLst/>
            <a:rect r="r" b="b" t="t" l="l"/>
            <a:pathLst>
              <a:path h="3482690" w="5224034">
                <a:moveTo>
                  <a:pt x="0" y="0"/>
                </a:moveTo>
                <a:lnTo>
                  <a:pt x="5224034" y="0"/>
                </a:lnTo>
                <a:lnTo>
                  <a:pt x="5224034" y="3482689"/>
                </a:lnTo>
                <a:lnTo>
                  <a:pt x="0" y="3482689"/>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sp>
        <p:nvSpPr>
          <p:cNvPr name="TextBox 4" id="4"/>
          <p:cNvSpPr txBox="true"/>
          <p:nvPr/>
        </p:nvSpPr>
        <p:spPr>
          <a:xfrm rot="0">
            <a:off x="2666980" y="2468562"/>
            <a:ext cx="12956097" cy="5645150"/>
          </a:xfrm>
          <a:prstGeom prst="rect">
            <a:avLst/>
          </a:prstGeom>
        </p:spPr>
        <p:txBody>
          <a:bodyPr anchor="t" rtlCol="false" tIns="0" lIns="0" bIns="0" rIns="0">
            <a:spAutoFit/>
          </a:bodyPr>
          <a:lstStyle/>
          <a:p>
            <a:pPr algn="l" marL="431797" indent="-215899" lvl="1">
              <a:lnSpc>
                <a:spcPts val="2799"/>
              </a:lnSpc>
              <a:buFont typeface="Arial"/>
              <a:buChar char="•"/>
            </a:pPr>
            <a:r>
              <a:rPr lang="en-US" sz="1999">
                <a:solidFill>
                  <a:srgbClr val="000000"/>
                </a:solidFill>
                <a:latin typeface="Poppins"/>
                <a:ea typeface="Poppins"/>
                <a:cs typeface="Poppins"/>
                <a:sym typeface="Poppins"/>
              </a:rPr>
              <a:t>Multi orbit support, extending from LEO to MEO and GEO asset protection.</a:t>
            </a:r>
          </a:p>
          <a:p>
            <a:pPr algn="l">
              <a:lnSpc>
                <a:spcPts val="2799"/>
              </a:lnSpc>
            </a:pPr>
          </a:p>
          <a:p>
            <a:pPr algn="l" marL="431797" indent="-215899" lvl="1">
              <a:lnSpc>
                <a:spcPts val="2799"/>
              </a:lnSpc>
              <a:buFont typeface="Arial"/>
              <a:buChar char="•"/>
            </a:pPr>
            <a:r>
              <a:rPr lang="en-US" sz="1999">
                <a:solidFill>
                  <a:srgbClr val="000000"/>
                </a:solidFill>
                <a:latin typeface="Poppins"/>
                <a:ea typeface="Poppins"/>
                <a:cs typeface="Poppins"/>
                <a:sym typeface="Poppins"/>
              </a:rPr>
              <a:t>Transformer based sequence model for 24–72 hour storm forecasting.</a:t>
            </a:r>
          </a:p>
          <a:p>
            <a:pPr algn="l">
              <a:lnSpc>
                <a:spcPts val="2799"/>
              </a:lnSpc>
            </a:pPr>
          </a:p>
          <a:p>
            <a:pPr algn="l" marL="431797" indent="-215899" lvl="1">
              <a:lnSpc>
                <a:spcPts val="2799"/>
              </a:lnSpc>
              <a:buFont typeface="Arial"/>
              <a:buChar char="•"/>
            </a:pPr>
            <a:r>
              <a:rPr lang="en-US" sz="1999">
                <a:solidFill>
                  <a:srgbClr val="000000"/>
                </a:solidFill>
                <a:latin typeface="Poppins"/>
                <a:ea typeface="Poppins"/>
                <a:cs typeface="Poppins"/>
                <a:sym typeface="Poppins"/>
              </a:rPr>
              <a:t>ISRO ISTRAC integration: direct telemetry link to ISRO's Tracking &amp; Command network.</a:t>
            </a:r>
          </a:p>
          <a:p>
            <a:pPr algn="l">
              <a:lnSpc>
                <a:spcPts val="2799"/>
              </a:lnSpc>
            </a:pPr>
          </a:p>
          <a:p>
            <a:pPr algn="l" marL="431797" indent="-215899" lvl="1">
              <a:lnSpc>
                <a:spcPts val="2799"/>
              </a:lnSpc>
              <a:buFont typeface="Arial"/>
              <a:buChar char="•"/>
            </a:pPr>
            <a:r>
              <a:rPr lang="en-US" sz="1999">
                <a:solidFill>
                  <a:srgbClr val="000000"/>
                </a:solidFill>
                <a:latin typeface="Poppins"/>
                <a:ea typeface="Poppins"/>
                <a:cs typeface="Poppins"/>
                <a:sym typeface="Poppins"/>
              </a:rPr>
              <a:t>Gaganyaan mission support: crew safety during geomagnetic storms for India's human spaceflight.</a:t>
            </a:r>
          </a:p>
          <a:p>
            <a:pPr algn="l">
              <a:lnSpc>
                <a:spcPts val="2799"/>
              </a:lnSpc>
            </a:pPr>
          </a:p>
          <a:p>
            <a:pPr algn="l" marL="431797" indent="-215899" lvl="1">
              <a:lnSpc>
                <a:spcPts val="2799"/>
              </a:lnSpc>
              <a:buFont typeface="Arial"/>
              <a:buChar char="•"/>
            </a:pPr>
            <a:r>
              <a:rPr lang="en-US" sz="1999">
                <a:solidFill>
                  <a:srgbClr val="000000"/>
                </a:solidFill>
                <a:latin typeface="Poppins"/>
                <a:ea typeface="Poppins"/>
                <a:cs typeface="Poppins"/>
                <a:sym typeface="Poppins"/>
              </a:rPr>
              <a:t>Space debris remediation: extend COLA engine to support active debris removal planning.</a:t>
            </a:r>
          </a:p>
          <a:p>
            <a:pPr algn="l">
              <a:lnSpc>
                <a:spcPts val="2799"/>
              </a:lnSpc>
            </a:pPr>
          </a:p>
          <a:p>
            <a:pPr algn="l" marL="431797" indent="-215899" lvl="1">
              <a:lnSpc>
                <a:spcPts val="2799"/>
              </a:lnSpc>
              <a:buFont typeface="Arial"/>
              <a:buChar char="•"/>
            </a:pPr>
            <a:r>
              <a:rPr lang="en-US" sz="1999">
                <a:solidFill>
                  <a:srgbClr val="000000"/>
                </a:solidFill>
                <a:latin typeface="Poppins"/>
                <a:ea typeface="Poppins"/>
                <a:cs typeface="Poppins"/>
                <a:sym typeface="Poppins"/>
              </a:rPr>
              <a:t>Bharatiya Antariksha Station (BAS): autonomous orbit maintenance for India's space station.</a:t>
            </a:r>
          </a:p>
          <a:p>
            <a:pPr algn="l">
              <a:lnSpc>
                <a:spcPts val="2799"/>
              </a:lnSpc>
            </a:pPr>
          </a:p>
          <a:p>
            <a:pPr algn="l" marL="431797" indent="-215899" lvl="1">
              <a:lnSpc>
                <a:spcPts val="2799"/>
              </a:lnSpc>
              <a:buFont typeface="Arial"/>
              <a:buChar char="•"/>
            </a:pPr>
            <a:r>
              <a:rPr lang="en-US" sz="1999">
                <a:solidFill>
                  <a:srgbClr val="000000"/>
                </a:solidFill>
                <a:latin typeface="Poppins"/>
                <a:ea typeface="Poppins"/>
                <a:cs typeface="Poppins"/>
                <a:sym typeface="Poppins"/>
              </a:rPr>
              <a:t>International partnerships. ESA ESOC, NASA JSC, JAXA integration for global SSA network.</a:t>
            </a:r>
          </a:p>
          <a:p>
            <a:pPr algn="l">
              <a:lnSpc>
                <a:spcPts val="2799"/>
              </a:lnSpc>
            </a:pPr>
          </a:p>
          <a:p>
            <a:pPr algn="l" marL="431797" indent="-215899" lvl="1">
              <a:lnSpc>
                <a:spcPts val="2799"/>
              </a:lnSpc>
              <a:buFont typeface="Arial"/>
              <a:buChar char="•"/>
            </a:pPr>
            <a:r>
              <a:rPr lang="en-US" sz="1999">
                <a:solidFill>
                  <a:srgbClr val="000000"/>
                </a:solidFill>
                <a:latin typeface="Poppins"/>
                <a:ea typeface="Poppins"/>
                <a:cs typeface="Poppins"/>
                <a:sym typeface="Poppins"/>
              </a:rPr>
              <a:t>Integrate GRACE-FO accelerometer data for highest quality drag ground truth available</a:t>
            </a:r>
          </a:p>
        </p:txBody>
      </p:sp>
      <p:sp>
        <p:nvSpPr>
          <p:cNvPr name="TextBox 5" id="5"/>
          <p:cNvSpPr txBox="true"/>
          <p:nvPr/>
        </p:nvSpPr>
        <p:spPr>
          <a:xfrm rot="0">
            <a:off x="6705425" y="259730"/>
            <a:ext cx="4877150"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FUTURE SCOPE</a:t>
            </a:r>
          </a:p>
        </p:txBody>
      </p:sp>
      <p:sp>
        <p:nvSpPr>
          <p:cNvPr name="Freeform 6" id="6"/>
          <p:cNvSpPr/>
          <p:nvPr/>
        </p:nvSpPr>
        <p:spPr>
          <a:xfrm flipH="false" flipV="false" rot="654455">
            <a:off x="-1213412" y="-888145"/>
            <a:ext cx="5357927" cy="3571951"/>
          </a:xfrm>
          <a:custGeom>
            <a:avLst/>
            <a:gdLst/>
            <a:ahLst/>
            <a:cxnLst/>
            <a:rect r="r" b="b" t="t" l="l"/>
            <a:pathLst>
              <a:path h="3571951" w="5357927">
                <a:moveTo>
                  <a:pt x="0" y="0"/>
                </a:moveTo>
                <a:lnTo>
                  <a:pt x="5357928" y="0"/>
                </a:lnTo>
                <a:lnTo>
                  <a:pt x="5357928" y="3571952"/>
                </a:lnTo>
                <a:lnTo>
                  <a:pt x="0" y="3571952"/>
                </a:lnTo>
                <a:lnTo>
                  <a:pt x="0" y="0"/>
                </a:lnTo>
                <a:close/>
              </a:path>
            </a:pathLst>
          </a:custGeom>
          <a:blipFill>
            <a:blip r:embed="rId3"/>
            <a:stretch>
              <a:fillRect l="0" t="0" r="0" b="0"/>
            </a:stretch>
          </a:blipFill>
        </p:spPr>
      </p:sp>
      <p:sp>
        <p:nvSpPr>
          <p:cNvPr name="Freeform 7" id="7"/>
          <p:cNvSpPr/>
          <p:nvPr/>
        </p:nvSpPr>
        <p:spPr>
          <a:xfrm flipH="false" flipV="false" rot="501973">
            <a:off x="14260031" y="8282251"/>
            <a:ext cx="4614430" cy="2193790"/>
          </a:xfrm>
          <a:custGeom>
            <a:avLst/>
            <a:gdLst/>
            <a:ahLst/>
            <a:cxnLst/>
            <a:rect r="r" b="b" t="t" l="l"/>
            <a:pathLst>
              <a:path h="2193790" w="4614430">
                <a:moveTo>
                  <a:pt x="0" y="0"/>
                </a:moveTo>
                <a:lnTo>
                  <a:pt x="4614430" y="0"/>
                </a:lnTo>
                <a:lnTo>
                  <a:pt x="4614430" y="2193790"/>
                </a:lnTo>
                <a:lnTo>
                  <a:pt x="0" y="2193790"/>
                </a:lnTo>
                <a:lnTo>
                  <a:pt x="0" y="0"/>
                </a:lnTo>
                <a:close/>
              </a:path>
            </a:pathLst>
          </a:custGeom>
          <a:blipFill>
            <a:blip r:embed="rId4"/>
            <a:stretch>
              <a:fillRect l="-3429" t="-19489" r="0" b="-25456"/>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403"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90000"/>
              </a:blip>
              <a:stretch>
                <a:fillRect l="0" t="-9259" r="0" b="-9259"/>
              </a:stretch>
            </a:blipFill>
          </p:spPr>
        </p:sp>
      </p:grpSp>
      <p:grpSp>
        <p:nvGrpSpPr>
          <p:cNvPr name="Group 4" id="4"/>
          <p:cNvGrpSpPr/>
          <p:nvPr/>
        </p:nvGrpSpPr>
        <p:grpSpPr>
          <a:xfrm rot="0">
            <a:off x="3121955" y="4037812"/>
            <a:ext cx="12044089" cy="2211375"/>
            <a:chOff x="0" y="0"/>
            <a:chExt cx="16058786" cy="2948500"/>
          </a:xfrm>
        </p:grpSpPr>
        <p:sp>
          <p:nvSpPr>
            <p:cNvPr name="Freeform 5" id="5"/>
            <p:cNvSpPr/>
            <p:nvPr/>
          </p:nvSpPr>
          <p:spPr>
            <a:xfrm flipH="false" flipV="false" rot="0">
              <a:off x="0" y="0"/>
              <a:ext cx="16058778" cy="2948505"/>
            </a:xfrm>
            <a:custGeom>
              <a:avLst/>
              <a:gdLst/>
              <a:ahLst/>
              <a:cxnLst/>
              <a:rect r="r" b="b" t="t" l="l"/>
              <a:pathLst>
                <a:path h="2948505" w="16058778">
                  <a:moveTo>
                    <a:pt x="0" y="0"/>
                  </a:moveTo>
                  <a:lnTo>
                    <a:pt x="16058778" y="0"/>
                  </a:lnTo>
                  <a:lnTo>
                    <a:pt x="16058778" y="2948505"/>
                  </a:lnTo>
                  <a:lnTo>
                    <a:pt x="0" y="2948505"/>
                  </a:lnTo>
                  <a:close/>
                </a:path>
              </a:pathLst>
            </a:custGeom>
            <a:blipFill>
              <a:blip r:embed="rId3">
                <a:alphaModFix amt="0"/>
              </a:blip>
              <a:stretch>
                <a:fillRect l="-11496" t="0" r="64382" b="0"/>
              </a:stretch>
            </a:blipFill>
          </p:spPr>
        </p:sp>
        <p:sp>
          <p:nvSpPr>
            <p:cNvPr name="TextBox 6" id="6"/>
            <p:cNvSpPr txBox="true"/>
            <p:nvPr/>
          </p:nvSpPr>
          <p:spPr>
            <a:xfrm>
              <a:off x="0" y="38100"/>
              <a:ext cx="16058786" cy="2910400"/>
            </a:xfrm>
            <a:prstGeom prst="rect">
              <a:avLst/>
            </a:prstGeom>
          </p:spPr>
          <p:txBody>
            <a:bodyPr anchor="ctr" rtlCol="false" tIns="0" lIns="0" bIns="0" rIns="0"/>
            <a:lstStyle/>
            <a:p>
              <a:pPr algn="l">
                <a:lnSpc>
                  <a:spcPts val="3455"/>
                </a:lnSpc>
              </a:pPr>
              <a:r>
                <a:rPr lang="en-US" sz="3199" b="true">
                  <a:solidFill>
                    <a:srgbClr val="000000"/>
                  </a:solidFill>
                  <a:latin typeface="Open Sans Hebrew Bold"/>
                  <a:ea typeface="Open Sans Hebrew Bold"/>
                  <a:cs typeface="Open Sans Hebrew Bold"/>
                  <a:sym typeface="Open Sans Hebrew Bold"/>
                </a:rPr>
                <a:t>Member 1: </a:t>
              </a:r>
              <a:r>
                <a:rPr lang="en-US" sz="3199">
                  <a:solidFill>
                    <a:srgbClr val="000000"/>
                  </a:solidFill>
                  <a:latin typeface="Open Sans Hebrew"/>
                  <a:ea typeface="Open Sans Hebrew"/>
                  <a:cs typeface="Open Sans Hebrew"/>
                  <a:sym typeface="Open Sans Hebrew"/>
                </a:rPr>
                <a:t>Srinjay Singh, AI/ML engineer</a:t>
              </a:r>
            </a:p>
            <a:p>
              <a:pPr algn="l">
                <a:lnSpc>
                  <a:spcPts val="3455"/>
                </a:lnSpc>
              </a:pPr>
              <a:r>
                <a:rPr lang="en-US" sz="3199" b="true">
                  <a:solidFill>
                    <a:srgbClr val="000000"/>
                  </a:solidFill>
                  <a:latin typeface="Open Sans Hebrew Bold"/>
                  <a:ea typeface="Open Sans Hebrew Bold"/>
                  <a:cs typeface="Open Sans Hebrew Bold"/>
                  <a:sym typeface="Open Sans Hebrew Bold"/>
                </a:rPr>
                <a:t>Member 2: </a:t>
              </a:r>
              <a:r>
                <a:rPr lang="en-US" sz="3199">
                  <a:solidFill>
                    <a:srgbClr val="000000"/>
                  </a:solidFill>
                  <a:latin typeface="Open Sans Hebrew"/>
                  <a:ea typeface="Open Sans Hebrew"/>
                  <a:cs typeface="Open Sans Hebrew"/>
                  <a:sym typeface="Open Sans Hebrew"/>
                </a:rPr>
                <a:t>Shivansh Gupta, Front End and Back End Developer</a:t>
              </a:r>
            </a:p>
            <a:p>
              <a:pPr algn="l">
                <a:lnSpc>
                  <a:spcPts val="3455"/>
                </a:lnSpc>
              </a:pPr>
              <a:r>
                <a:rPr lang="en-US" sz="3199" b="true">
                  <a:solidFill>
                    <a:srgbClr val="000000"/>
                  </a:solidFill>
                  <a:latin typeface="Open Sans Hebrew Bold"/>
                  <a:ea typeface="Open Sans Hebrew Bold"/>
                  <a:cs typeface="Open Sans Hebrew Bold"/>
                  <a:sym typeface="Open Sans Hebrew Bold"/>
                </a:rPr>
                <a:t>Member 3: </a:t>
              </a:r>
              <a:r>
                <a:rPr lang="en-US" sz="3199">
                  <a:solidFill>
                    <a:srgbClr val="000000"/>
                  </a:solidFill>
                  <a:latin typeface="Open Sans Hebrew"/>
                  <a:ea typeface="Open Sans Hebrew"/>
                  <a:cs typeface="Open Sans Hebrew"/>
                  <a:sym typeface="Open Sans Hebrew"/>
                </a:rPr>
                <a:t>S Shivapriyaa, Researcher</a:t>
              </a:r>
            </a:p>
          </p:txBody>
        </p:sp>
      </p:grpSp>
      <p:sp>
        <p:nvSpPr>
          <p:cNvPr name="TextBox 7" id="7"/>
          <p:cNvSpPr txBox="true"/>
          <p:nvPr/>
        </p:nvSpPr>
        <p:spPr>
          <a:xfrm rot="0">
            <a:off x="7332312" y="259730"/>
            <a:ext cx="3623375" cy="768970"/>
          </a:xfrm>
          <a:prstGeom prst="rect">
            <a:avLst/>
          </a:prstGeom>
        </p:spPr>
        <p:txBody>
          <a:bodyPr anchor="t" rtlCol="false" tIns="0" lIns="0" bIns="0" rIns="0">
            <a:spAutoFit/>
          </a:bodyPr>
          <a:lstStyle/>
          <a:p>
            <a:pPr algn="l">
              <a:lnSpc>
                <a:spcPts val="5513"/>
              </a:lnSpc>
            </a:pPr>
            <a:r>
              <a:rPr lang="en-US" sz="5250" b="true">
                <a:solidFill>
                  <a:srgbClr val="000000"/>
                </a:solidFill>
                <a:latin typeface="Poppins Bold"/>
                <a:ea typeface="Poppins Bold"/>
                <a:cs typeface="Poppins Bold"/>
                <a:sym typeface="Poppins Bold"/>
              </a:rPr>
              <a:t>TEAM INFO</a:t>
            </a:r>
          </a:p>
        </p:txBody>
      </p:sp>
      <p:sp>
        <p:nvSpPr>
          <p:cNvPr name="Freeform 8" id="8"/>
          <p:cNvSpPr/>
          <p:nvPr/>
        </p:nvSpPr>
        <p:spPr>
          <a:xfrm flipH="false" flipV="false" rot="0">
            <a:off x="14079526" y="-844840"/>
            <a:ext cx="4768012" cy="3178675"/>
          </a:xfrm>
          <a:custGeom>
            <a:avLst/>
            <a:gdLst/>
            <a:ahLst/>
            <a:cxnLst/>
            <a:rect r="r" b="b" t="t" l="l"/>
            <a:pathLst>
              <a:path h="3178675" w="4768012">
                <a:moveTo>
                  <a:pt x="0" y="0"/>
                </a:moveTo>
                <a:lnTo>
                  <a:pt x="4768012" y="0"/>
                </a:lnTo>
                <a:lnTo>
                  <a:pt x="4768012" y="3178675"/>
                </a:lnTo>
                <a:lnTo>
                  <a:pt x="0" y="3178675"/>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DAHGD_-PBFo</dc:identifier>
  <dcterms:modified xsi:type="dcterms:W3CDTF">2011-08-01T06:04:30Z</dcterms:modified>
  <cp:revision>1</cp:revision>
  <dc:title>DevCraft_PPT_Template.pptx</dc:title>
</cp:coreProperties>
</file>